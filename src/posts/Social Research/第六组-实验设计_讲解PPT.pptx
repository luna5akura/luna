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小优惠也能撬动消费？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优惠券面额与使用门槛对消费兑现意愿的影响</a:t>
            </a:r>
            <a:br/>
            <a:br/>
            <a:r>
              <a:rPr/>
              <a:t>第6组：程乾坤、雷佑宁、刘欣悦、刘子溱、王鲲淏、章玉树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Research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汇报流程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一、变量名称及其定义</a:t>
            </a:r>
          </a:p>
          <a:p>
            <a:pPr lvl="0"/>
            <a:r>
              <a:rPr/>
              <a:t>二、假设的完整陈述</a:t>
            </a:r>
          </a:p>
          <a:p>
            <a:pPr lvl="0"/>
            <a:r>
              <a:rPr/>
              <a:t>三、模型的图示</a:t>
            </a:r>
          </a:p>
          <a:p>
            <a:pPr lvl="0"/>
            <a:r>
              <a:rPr/>
              <a:t>五、自变量的操控方法和检验方法</a:t>
            </a:r>
          </a:p>
          <a:p>
            <a:pPr lvl="0"/>
            <a:r>
              <a:rPr/>
              <a:t>六、实验流程设计</a:t>
            </a:r>
          </a:p>
          <a:p>
            <a:pPr lvl="0"/>
            <a:r>
              <a:rPr/>
              <a:t>七、预实验设计</a:t>
            </a:r>
          </a:p>
          <a:p>
            <a:pPr lvl="0"/>
            <a:r>
              <a:rPr/>
              <a:t>八、数据分析计划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一、变量名称及其定义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三个核心变量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自变量1：优惠券面额</a:t>
            </a:r>
          </a:p>
          <a:p>
            <a:pPr lvl="0"/>
            <a:r>
              <a:rPr/>
              <a:t>自变量2：使用门槛</a:t>
            </a:r>
          </a:p>
          <a:p>
            <a:pPr lvl="0"/>
            <a:r>
              <a:rPr/>
              <a:t>因变量：消费兑现意愿</a:t>
            </a:r>
          </a:p>
          <a:p>
            <a:pPr lvl="0"/>
            <a:r>
              <a:rPr/>
              <a:t>研究问题：消费者如何权衡“省多少钱”和“要多花多少”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优惠券面额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指优惠券可直接减免的金额</a:t>
            </a:r>
          </a:p>
          <a:p>
            <a:pPr lvl="0"/>
            <a:r>
              <a:rPr/>
              <a:t>例：“满100减10”中的10元</a:t>
            </a:r>
          </a:p>
          <a:p>
            <a:pPr lvl="0"/>
            <a:r>
              <a:rPr/>
              <a:t>本研究设置为 5 元 vs. 25 元</a:t>
            </a:r>
          </a:p>
          <a:p>
            <a:pPr lvl="0"/>
            <a:r>
              <a:rPr/>
              <a:t>面额越高，感知交易效用越强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使用门槛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指优惠券生效前必须达到的最低消费额</a:t>
            </a:r>
          </a:p>
          <a:p>
            <a:pPr lvl="0"/>
            <a:r>
              <a:rPr/>
              <a:t>例：“满X元可用”中的X元</a:t>
            </a:r>
          </a:p>
          <a:p>
            <a:pPr lvl="0"/>
            <a:r>
              <a:rPr/>
              <a:t>本研究设置为无门槛、满30元、满80元</a:t>
            </a:r>
          </a:p>
          <a:p>
            <a:pPr lvl="0"/>
            <a:r>
              <a:rPr/>
              <a:t>门槛越高，消费者的额外成本越高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消费兑现意愿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消费者实际使用优惠券并完成消费的主观倾向</a:t>
            </a:r>
          </a:p>
          <a:p>
            <a:pPr lvl="0"/>
            <a:r>
              <a:rPr/>
              <a:t>不是单纯喜欢优惠券，而是“会不会真的去用”</a:t>
            </a:r>
          </a:p>
          <a:p>
            <a:pPr lvl="0"/>
            <a:r>
              <a:rPr/>
              <a:t>使用 7 点 Likert 量表测量</a:t>
            </a:r>
          </a:p>
          <a:p>
            <a:pPr lvl="0"/>
            <a:r>
              <a:rPr/>
              <a:t>取多个题项均值作为 CRI 得分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二、假设的完整陈述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H1：面额的正向作用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高面额带来更直接的经济收益</a:t>
            </a:r>
          </a:p>
          <a:p>
            <a:pPr lvl="0"/>
            <a:r>
              <a:rPr/>
              <a:t>消费者会将较大优惠理解为更高交易价值</a:t>
            </a:r>
          </a:p>
          <a:p>
            <a:pPr lvl="0"/>
            <a:r>
              <a:rPr/>
              <a:t>25元优惠券应比5元优惠券更能提高消费兑现意愿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H2：门槛的负向作用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使用门槛提高了获得优惠的消费成本</a:t>
            </a:r>
          </a:p>
          <a:p>
            <a:pPr lvl="0"/>
            <a:r>
              <a:rPr/>
              <a:t>门槛过高时，消费者会觉得“为了优惠而多花钱”</a:t>
            </a:r>
          </a:p>
          <a:p>
            <a:pPr lvl="0"/>
            <a:r>
              <a:rPr/>
              <a:t>无门槛组 &gt; 满30元组 &gt; 满80元组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H3：面额与门槛的交互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面额的吸引力取决于门槛高低</a:t>
            </a:r>
          </a:p>
          <a:p>
            <a:pPr lvl="0"/>
            <a:r>
              <a:rPr/>
              <a:t>低门槛下，高面额更容易被理解为划算</a:t>
            </a:r>
          </a:p>
          <a:p>
            <a:pPr lvl="0"/>
            <a:r>
              <a:rPr/>
              <a:t>高门槛下，高面额的促进作用会被削弱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三、模型的图示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研究模型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面额、门槛及二者交互项共同影响消费兑现意愿</a:t>
            </a:r>
          </a:p>
        </p:txBody>
      </p:sp>
      <p:pic>
        <p:nvPicPr>
          <p:cNvPr descr="group6_experiment_model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× 3 被试间实验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水平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优惠券面额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2个水平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5元、25元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使用门槛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3个水平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无门槛、满30元、满80元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实验组数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每位被试只进入一组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计划样本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每组约30人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六个实验处理组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面额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优惠券信息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无门槛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5元立减，无最低消费限制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满30元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满30元减5元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满80元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满80元减5元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无门槛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25元立减，无最低消费限制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满30元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满30元减25元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满80元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满80元减25元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五、自变量的操控方法和检验方法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实验情景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被试想象自己是一名大学生</a:t>
            </a:r>
          </a:p>
          <a:p>
            <a:pPr lvl="0"/>
            <a:r>
              <a:rPr/>
              <a:t>平时会购买咖啡或茶饮</a:t>
            </a:r>
          </a:p>
          <a:p>
            <a:pPr lvl="0"/>
            <a:r>
              <a:rPr/>
              <a:t>收到虚构品牌“悦享咖啡”的电子优惠券</a:t>
            </a:r>
          </a:p>
          <a:p>
            <a:pPr lvl="0"/>
            <a:r>
              <a:rPr/>
              <a:t>饮品约15-25元，轻食约20-35元</a:t>
            </a:r>
          </a:p>
          <a:p>
            <a:pPr lvl="0"/>
            <a:r>
              <a:rPr/>
              <a:t>优惠券有效期为7天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自变量操控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面额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门槛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低面额：5元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无门槛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高面额：25元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满30元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25元约等于一杯饮品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满80元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预测试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招募 15-20 名不参加正式实验的被试</a:t>
            </a:r>
          </a:p>
          <a:p>
            <a:pPr lvl="0"/>
            <a:r>
              <a:rPr/>
              <a:t>随机分配到 6 个实验组</a:t>
            </a:r>
          </a:p>
          <a:p>
            <a:pPr lvl="0"/>
            <a:r>
              <a:rPr/>
              <a:t>检查面额识别、门槛识别、情景真实感</a:t>
            </a:r>
          </a:p>
          <a:p>
            <a:pPr lvl="0"/>
            <a:r>
              <a:rPr/>
              <a:t>若识别率不足，调整优惠券卡片和情景表述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操控检验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面额识别：优惠金额是 5 元还是 25 元</a:t>
            </a:r>
          </a:p>
          <a:p>
            <a:pPr lvl="0"/>
            <a:r>
              <a:rPr/>
              <a:t>门槛识别：无门槛、满30元还是满80元</a:t>
            </a:r>
          </a:p>
          <a:p>
            <a:pPr lvl="0"/>
            <a:r>
              <a:rPr/>
              <a:t>情景真实感：是否贴近真实咖啡消费</a:t>
            </a:r>
          </a:p>
          <a:p>
            <a:pPr lvl="0"/>
            <a:r>
              <a:rPr/>
              <a:t>信息理解度：是否清楚面额和使用条件</a:t>
            </a:r>
          </a:p>
          <a:p>
            <a:pPr lvl="0"/>
            <a:r>
              <a:rPr/>
              <a:t>放在因变量测量之后，降低需求效应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六、实验流程设计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被试获取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本科生和研究生，18-28岁</a:t>
            </a:r>
          </a:p>
          <a:p>
            <a:pPr lvl="0"/>
            <a:r>
              <a:rPr/>
              <a:t>过去一个月买过咖啡或茶饮</a:t>
            </a:r>
          </a:p>
          <a:p>
            <a:pPr lvl="0"/>
            <a:r>
              <a:rPr/>
              <a:t>有过优惠券使用经验</a:t>
            </a:r>
          </a:p>
          <a:p>
            <a:pPr lvl="0"/>
            <a:r>
              <a:rPr/>
              <a:t>通过校园微信群、朋友圈、班级群和线下海报招募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样本量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6 个实验组，每组约 30 人</a:t>
            </a:r>
          </a:p>
          <a:p>
            <a:pPr lvl="0"/>
            <a:r>
              <a:rPr/>
              <a:t>中等效应量 f = 0.25</a:t>
            </a:r>
          </a:p>
          <a:p>
            <a:pPr lvl="0"/>
            <a:r>
              <a:rPr/>
              <a:t>显著性水平 0.05，统计功效 0.80</a:t>
            </a:r>
          </a:p>
          <a:p>
            <a:pPr lvl="0"/>
            <a:r>
              <a:rPr/>
              <a:t>最低样本量约 158 人</a:t>
            </a:r>
          </a:p>
          <a:p>
            <a:pPr lvl="0"/>
            <a:r>
              <a:rPr/>
              <a:t>考虑无效问卷后计划回收约 180-186 份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问卷结构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作用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筛选题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确认目标被试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知情同意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告知研究与权利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情景材料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呈现实验操控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消费兑现意愿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测量因变量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混淆变量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控制个体差异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操控检验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检查操控有效性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人口统计与解说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背景信息与去欺骗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消费兑现意愿问项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我会在有效期内使用这张优惠券</a:t>
            </a:r>
          </a:p>
          <a:p>
            <a:pPr lvl="0"/>
            <a:r>
              <a:rPr/>
              <a:t>我愿意为了使用它而专门前往消费</a:t>
            </a:r>
          </a:p>
          <a:p>
            <a:pPr lvl="0"/>
            <a:r>
              <a:rPr/>
              <a:t>考虑到优惠券条件，我认为使用它是值得的</a:t>
            </a:r>
          </a:p>
          <a:p>
            <a:pPr lvl="0"/>
            <a:r>
              <a:rPr/>
              <a:t>原本没有购买计划时，也可能因此去消费</a:t>
            </a:r>
          </a:p>
          <a:p>
            <a:pPr lvl="0"/>
            <a:r>
              <a:rPr/>
              <a:t>与其他促销相比，这张优惠券有吸引力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质量控制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注意力检查：要求被试选择指定选项</a:t>
            </a:r>
          </a:p>
          <a:p>
            <a:pPr lvl="0"/>
            <a:r>
              <a:rPr/>
              <a:t>剔除作答时间低于 2 分钟的问卷</a:t>
            </a:r>
          </a:p>
          <a:p>
            <a:pPr lvl="0"/>
            <a:r>
              <a:rPr/>
              <a:t>剔除认真度低于 4 分的问卷</a:t>
            </a:r>
          </a:p>
          <a:p>
            <a:pPr lvl="0"/>
            <a:r>
              <a:rPr/>
              <a:t>IP 去重，检查开放反馈</a:t>
            </a:r>
          </a:p>
          <a:p>
            <a:pPr lvl="0"/>
            <a:r>
              <a:rPr/>
              <a:t>预计剔除 12%-15% 的无效样本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七、预实验设计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预实验目的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选择最合适的消费品类</a:t>
            </a:r>
          </a:p>
          <a:p>
            <a:pPr lvl="0"/>
            <a:r>
              <a:rPr/>
              <a:t>降低品类偏好和品牌偏好的干扰</a:t>
            </a:r>
          </a:p>
          <a:p>
            <a:pPr lvl="0"/>
            <a:r>
              <a:rPr/>
              <a:t>检查实验情景是否真实、易懂</a:t>
            </a:r>
          </a:p>
          <a:p>
            <a:pPr lvl="0"/>
            <a:r>
              <a:rPr/>
              <a:t>如果咖啡/茶饮不合适，再替换品类和门槛金额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候选品类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品类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典型场景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优势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咖啡/茶饮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校园周边饮品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高频、价格清晰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外卖/简餐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平台满减优惠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门槛促销常见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线上超市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日用品即时零售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商品较标准化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评估维度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熟悉度：是否了解该品类</a:t>
            </a:r>
          </a:p>
          <a:p>
            <a:pPr lvl="0"/>
            <a:r>
              <a:rPr/>
              <a:t>优惠券感知：是否认为该品类常见优惠券</a:t>
            </a:r>
          </a:p>
          <a:p>
            <a:pPr lvl="0"/>
            <a:r>
              <a:rPr/>
              <a:t>偏好一致性：同学之间偏好差异是否较小</a:t>
            </a:r>
          </a:p>
          <a:p>
            <a:pPr lvl="0"/>
            <a:r>
              <a:rPr/>
              <a:t>情景真实性：是否贴近真实生活</a:t>
            </a:r>
          </a:p>
          <a:p>
            <a:pPr lvl="0"/>
            <a:r>
              <a:rPr/>
              <a:t>每项采用 1-7 分评分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八、数据分析计划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数据清洗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删除筛选题不符合要求的样本</a:t>
            </a:r>
          </a:p>
          <a:p>
            <a:pPr lvl="0"/>
            <a:r>
              <a:rPr/>
              <a:t>删除注意力检查失败和认真度过低样本</a:t>
            </a:r>
          </a:p>
          <a:p>
            <a:pPr lvl="0"/>
            <a:r>
              <a:rPr/>
              <a:t>计算 5 个 CRI 题项的均值</a:t>
            </a:r>
          </a:p>
          <a:p>
            <a:pPr lvl="0"/>
            <a:r>
              <a:rPr/>
              <a:t>检查正态性和方差齐性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操控检验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面额识别：使用卡方检验</a:t>
            </a:r>
          </a:p>
          <a:p>
            <a:pPr lvl="0"/>
            <a:r>
              <a:rPr/>
              <a:t>门槛识别：使用卡方检验</a:t>
            </a:r>
          </a:p>
          <a:p>
            <a:pPr lvl="0"/>
            <a:r>
              <a:rPr/>
              <a:t>情景真实感：比较各组均值</a:t>
            </a:r>
          </a:p>
          <a:p>
            <a:pPr lvl="0"/>
            <a:r>
              <a:rPr/>
              <a:t>预期面额正确率不低于 90%</a:t>
            </a:r>
          </a:p>
          <a:p>
            <a:pPr lvl="0"/>
            <a:r>
              <a:rPr/>
              <a:t>预期门槛正确率不低于 85%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假设检验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核心方法：2 × 3 双因素被试间方差分析</a:t>
            </a:r>
          </a:p>
          <a:p>
            <a:pPr lvl="0"/>
            <a:r>
              <a:rPr/>
              <a:t>面额主效应检验 H1</a:t>
            </a:r>
          </a:p>
          <a:p>
            <a:pPr lvl="0"/>
            <a:r>
              <a:rPr/>
              <a:t>门槛主效应检验 H2</a:t>
            </a:r>
          </a:p>
          <a:p>
            <a:pPr lvl="0"/>
            <a:r>
              <a:rPr/>
              <a:t>面额 × 门槛交互项检验 H3</a:t>
            </a:r>
          </a:p>
          <a:p>
            <a:pPr lvl="0"/>
            <a:r>
              <a:rPr/>
              <a:t>交互显著时进一步做简单效应分析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信度与稳健性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对消费兑现意愿量表计算 Cronbach’s alpha</a:t>
            </a:r>
          </a:p>
          <a:p>
            <a:pPr lvl="0"/>
            <a:r>
              <a:rPr/>
              <a:t>alpha 不低于 0.70 视为可接受</a:t>
            </a:r>
          </a:p>
          <a:p>
            <a:pPr lvl="0"/>
            <a:r>
              <a:rPr/>
              <a:t>将优惠券倾向性、价格敏感度、情绪和品牌偏好作为协变量</a:t>
            </a:r>
          </a:p>
          <a:p>
            <a:pPr lvl="0"/>
            <a:r>
              <a:rPr/>
              <a:t>使用 ANCOVA 检查结论是否稳健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汇报小结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本实验设计的重点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用标准化情景实验隔离面额和门槛的影响</a:t>
            </a:r>
          </a:p>
          <a:p>
            <a:pPr lvl="0"/>
            <a:r>
              <a:rPr/>
              <a:t>用 2 × 3 设计同时检验主效应和交互效应</a:t>
            </a:r>
          </a:p>
          <a:p>
            <a:pPr lvl="0"/>
            <a:r>
              <a:rPr/>
              <a:t>用预测试、操控检验和质量控制保证内部效度</a:t>
            </a:r>
          </a:p>
          <a:p>
            <a:pPr lvl="0"/>
            <a:r>
              <a:rPr/>
              <a:t>回答“小优惠是否以及何时能撬动消费”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谢谢大家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欢迎提问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小优惠也能撬动消费？</dc:title>
  <dc:creator>第6组：程乾坤、雷佑宁、刘欣悦、刘子溱、王鲲淏、章玉树</dc:creator>
  <cp:keywords/>
  <dcterms:created xsi:type="dcterms:W3CDTF">2026-06-10T10:34:57Z</dcterms:created>
  <dcterms:modified xsi:type="dcterms:W3CDTF">2026-06-10T10:34:57Z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Social Research</vt:lpwstr>
  </property>
  <property fmtid="{D5CDD505-2E9C-101B-9397-08002B2CF9AE}" pid="3" name="subtitle">
    <vt:lpwstr>优惠券面额与使用门槛对消费兑现意愿的影响</vt:lpwstr>
  </property>
</Properties>
</file>