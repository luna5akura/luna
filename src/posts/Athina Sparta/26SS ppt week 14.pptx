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等线" panose="02010600030101010101" pitchFamily="2" charset="-122"/>
      <p:regular r:id="rId10"/>
      <p:bold r:id="rId11"/>
    </p:embeddedFont>
    <p:embeddedFont>
      <p:font typeface="Garamond" panose="02020404030301010803" pitchFamily="18" charset="0"/>
      <p:regular r:id="rId12"/>
      <p:bold r:id="rId13"/>
      <p:italic r:id="rId14"/>
      <p:boldItalic r:id="rId15"/>
    </p:embeddedFont>
    <p:embeddedFont>
      <p:font typeface="Times New Roman Bold" panose="02020803070505020304" pitchFamily="18" charset="0"/>
      <p:regular r:id="rId16"/>
      <p:bold r:id="rId17"/>
    </p:embeddedFont>
    <p:embeddedFont>
      <p:font typeface="Times New Roman Bold Italics" panose="02020703060505090304" pitchFamily="18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8D2"/>
    <a:srgbClr val="51472D"/>
    <a:srgbClr val="51514B"/>
    <a:srgbClr val="403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62" autoAdjust="0"/>
  </p:normalViewPr>
  <p:slideViewPr>
    <p:cSldViewPr>
      <p:cViewPr varScale="1">
        <p:scale>
          <a:sx n="72" d="100"/>
          <a:sy n="72" d="100"/>
        </p:scale>
        <p:origin x="66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97975-77C8-4E49-B683-85F42B3B866D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7B57C-A1D5-4089-A247-FAA4B8AD6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7B57C-A1D5-4089-A247-FAA4B8AD671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890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724205" y="4036326"/>
            <a:ext cx="14839589" cy="1750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8"/>
              </a:lnSpc>
            </a:pPr>
            <a:r>
              <a:rPr lang="en-US" sz="5719" b="1" dirty="0">
                <a:solidFill>
                  <a:srgbClr val="7869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Greek Literature in the Era of the</a:t>
            </a:r>
          </a:p>
          <a:p>
            <a:pPr algn="ctr">
              <a:lnSpc>
                <a:spcPts val="6748"/>
              </a:lnSpc>
            </a:pPr>
            <a:r>
              <a:rPr lang="en-US" sz="5719" b="1" dirty="0">
                <a:solidFill>
                  <a:srgbClr val="7869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719" b="1" dirty="0" err="1">
                <a:solidFill>
                  <a:srgbClr val="7869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Atheno</a:t>
            </a:r>
            <a:r>
              <a:rPr lang="en-US" sz="5719" b="1" dirty="0">
                <a:solidFill>
                  <a:srgbClr val="7869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-Peloponnesian Wars (431–404 BCE)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10203" y="6590242"/>
            <a:ext cx="5867594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9C83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999" u="none">
                <a:solidFill>
                  <a:srgbClr val="9C83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of Chios (II)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23218" y="7885623"/>
            <a:ext cx="3841564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5151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Dr. Ruobing Xian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D82AB9E8-642D-79E3-0AF8-23FADE19CC93}"/>
              </a:ext>
            </a:extLst>
          </p:cNvPr>
          <p:cNvSpPr txBox="1"/>
          <p:nvPr/>
        </p:nvSpPr>
        <p:spPr>
          <a:xfrm>
            <a:off x="6867276" y="723900"/>
            <a:ext cx="4553446" cy="439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377" dirty="0">
                <a:solidFill>
                  <a:srgbClr val="F3E8D2"/>
                </a:solidFill>
                <a:latin typeface="Garamond"/>
                <a:ea typeface="Garamond"/>
                <a:cs typeface="Garamond"/>
                <a:sym typeface="Garamond"/>
              </a:rPr>
              <a:t>Spring Semester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136836" y="3286659"/>
            <a:ext cx="10014329" cy="629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9"/>
              </a:lnSpc>
            </a:pPr>
            <a:r>
              <a:rPr lang="en-US" sz="4299" b="1" dirty="0">
                <a:solidFill>
                  <a:srgbClr val="51514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Ion’s </a:t>
            </a:r>
            <a:r>
              <a:rPr lang="en-US" sz="4299" b="1" i="1" dirty="0" err="1">
                <a:solidFill>
                  <a:srgbClr val="51514B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Epidēmiai</a:t>
            </a:r>
            <a:r>
              <a:rPr lang="en-US" sz="4299" b="1" dirty="0">
                <a:solidFill>
                  <a:srgbClr val="51514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as a Literary Forerunner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4430" y="834020"/>
            <a:ext cx="5829463" cy="1530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45"/>
              </a:lnSpc>
            </a:pPr>
            <a:r>
              <a:rPr lang="en-US" sz="8675">
                <a:solidFill>
                  <a:srgbClr val="E6C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25214" y="5921024"/>
            <a:ext cx="10237573" cy="629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59"/>
              </a:lnSpc>
              <a:spcBef>
                <a:spcPct val="0"/>
              </a:spcBef>
            </a:pPr>
            <a:r>
              <a:rPr lang="en-US" sz="4299" b="1" u="none" strike="noStrike" dirty="0">
                <a:solidFill>
                  <a:srgbClr val="51514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</a:t>
            </a:r>
            <a:r>
              <a:rPr lang="en-US" sz="4299" b="1" u="none" strike="noStrike" dirty="0" err="1">
                <a:solidFill>
                  <a:srgbClr val="51514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Sympotic</a:t>
            </a:r>
            <a:r>
              <a:rPr lang="en-US" sz="4299" b="1" u="none" strike="noStrike" dirty="0">
                <a:solidFill>
                  <a:srgbClr val="51514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Settings of Ion’s </a:t>
            </a:r>
            <a:r>
              <a:rPr lang="en-US" sz="4299" b="1" i="1" u="none" strike="noStrike" dirty="0" err="1">
                <a:solidFill>
                  <a:srgbClr val="51514B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Epidēmiai</a:t>
            </a:r>
            <a:endParaRPr lang="en-US" sz="4299" b="1" i="1" u="none" strike="noStrike" dirty="0">
              <a:solidFill>
                <a:srgbClr val="51514B"/>
              </a:solidFill>
              <a:latin typeface="Times New Roman Bold Italics"/>
              <a:ea typeface="Times New Roman Bold Italics"/>
              <a:cs typeface="Times New Roman Bold Italics"/>
              <a:sym typeface="Times New Roman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136836" y="8575899"/>
            <a:ext cx="10014329" cy="629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9"/>
              </a:lnSpc>
            </a:pPr>
            <a:r>
              <a:rPr lang="en-US" sz="4299" b="1" dirty="0">
                <a:solidFill>
                  <a:srgbClr val="51514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Ion in Plutarch’s </a:t>
            </a:r>
            <a:r>
              <a:rPr lang="en-US" sz="4299" b="1" i="1" dirty="0">
                <a:solidFill>
                  <a:srgbClr val="51514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274166"/>
            <a:ext cx="16230600" cy="698413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Box 3"/>
          <p:cNvSpPr txBox="1"/>
          <p:nvPr/>
        </p:nvSpPr>
        <p:spPr>
          <a:xfrm>
            <a:off x="1028700" y="723900"/>
            <a:ext cx="12832219" cy="82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dirty="0">
                <a:solidFill>
                  <a:srgbClr val="6F54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Ion’s </a:t>
            </a:r>
            <a:r>
              <a:rPr lang="en-US" sz="5000" b="1" i="1" dirty="0" err="1">
                <a:solidFill>
                  <a:srgbClr val="6F54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Epidēmiai</a:t>
            </a:r>
            <a:r>
              <a:rPr lang="en-US" sz="5000" b="1" dirty="0">
                <a:solidFill>
                  <a:srgbClr val="6F54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as a Literary Forerunner</a:t>
            </a:r>
          </a:p>
        </p:txBody>
      </p:sp>
      <p:sp>
        <p:nvSpPr>
          <p:cNvPr id="4" name="AutoShape 4"/>
          <p:cNvSpPr/>
          <p:nvPr/>
        </p:nvSpPr>
        <p:spPr>
          <a:xfrm>
            <a:off x="14684598" y="1671507"/>
            <a:ext cx="2574702" cy="602659"/>
          </a:xfrm>
          <a:prstGeom prst="rect">
            <a:avLst/>
          </a:prstGeom>
          <a:solidFill>
            <a:srgbClr val="607444"/>
          </a:solidFill>
        </p:spPr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7B583F61-B02C-2CC9-43A9-3CB7E8D591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702" y="2064304"/>
            <a:ext cx="6134100" cy="7324442"/>
          </a:xfrm>
          <a:prstGeom prst="rect">
            <a:avLst/>
          </a:prstGeom>
          <a:ln>
            <a:solidFill>
              <a:srgbClr val="51514B"/>
            </a:solidFill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6ACE26B-B904-06BC-835D-A0FE10F1C4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2702774"/>
            <a:ext cx="4160917" cy="6047502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39C87364-E2E1-4A11-99BE-9273D2E6AE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0" y="2702774"/>
            <a:ext cx="3846211" cy="60475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8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95840-2B67-81A1-0C3F-D252C04A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C95A360-074B-C40D-79A3-98677DCD341A}"/>
              </a:ext>
            </a:extLst>
          </p:cNvPr>
          <p:cNvSpPr/>
          <p:nvPr/>
        </p:nvSpPr>
        <p:spPr>
          <a:xfrm>
            <a:off x="1028700" y="2274166"/>
            <a:ext cx="16230600" cy="698413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C43ACED-0EC2-96E4-6363-4B27DC4AA323}"/>
              </a:ext>
            </a:extLst>
          </p:cNvPr>
          <p:cNvSpPr txBox="1"/>
          <p:nvPr/>
        </p:nvSpPr>
        <p:spPr>
          <a:xfrm>
            <a:off x="1028700" y="723900"/>
            <a:ext cx="12832219" cy="82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dirty="0">
                <a:solidFill>
                  <a:srgbClr val="6F54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</a:t>
            </a:r>
            <a:r>
              <a:rPr lang="en-US" sz="5000" b="1" dirty="0" err="1">
                <a:solidFill>
                  <a:srgbClr val="6F54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Sympotic</a:t>
            </a:r>
            <a:r>
              <a:rPr lang="en-US" sz="5000" b="1" dirty="0">
                <a:solidFill>
                  <a:srgbClr val="6F54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Settings of Ion’s </a:t>
            </a:r>
            <a:r>
              <a:rPr lang="en-US" sz="5000" b="1" i="1" dirty="0" err="1">
                <a:solidFill>
                  <a:srgbClr val="6F54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Epidēmiai</a:t>
            </a:r>
            <a:endParaRPr lang="en-US" sz="5000" b="1" i="1" dirty="0">
              <a:solidFill>
                <a:srgbClr val="6F540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3D9360D-4AC5-4740-3A3F-D9F8480282DD}"/>
              </a:ext>
            </a:extLst>
          </p:cNvPr>
          <p:cNvSpPr/>
          <p:nvPr/>
        </p:nvSpPr>
        <p:spPr>
          <a:xfrm>
            <a:off x="14684598" y="1671507"/>
            <a:ext cx="2574702" cy="602659"/>
          </a:xfrm>
          <a:prstGeom prst="rect">
            <a:avLst/>
          </a:prstGeom>
          <a:solidFill>
            <a:srgbClr val="607444"/>
          </a:solidFill>
        </p:spPr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5ECB875-3227-D988-4FF5-93631348FD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645" y="3009900"/>
            <a:ext cx="4775314" cy="5701868"/>
          </a:xfrm>
          <a:prstGeom prst="rect">
            <a:avLst/>
          </a:prstGeom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09384415-A1D0-A995-96A7-018962E5FB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211" y="3162300"/>
            <a:ext cx="11050089" cy="504391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8388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8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223A54-1BFB-CB81-8EA8-72365AC4B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4034B30-2F03-E9DA-3572-C735D5E23837}"/>
              </a:ext>
            </a:extLst>
          </p:cNvPr>
          <p:cNvSpPr/>
          <p:nvPr/>
        </p:nvSpPr>
        <p:spPr>
          <a:xfrm>
            <a:off x="1028700" y="2274166"/>
            <a:ext cx="16230600" cy="698413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CA5490A-BEAD-5375-A6BF-D50DEE775AB2}"/>
              </a:ext>
            </a:extLst>
          </p:cNvPr>
          <p:cNvSpPr txBox="1"/>
          <p:nvPr/>
        </p:nvSpPr>
        <p:spPr>
          <a:xfrm>
            <a:off x="1028700" y="723900"/>
            <a:ext cx="12832219" cy="82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dirty="0">
                <a:solidFill>
                  <a:srgbClr val="6F54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Ion of Chios in Plutarch’s Lives</a:t>
            </a:r>
            <a:endParaRPr lang="en-US" sz="5000" b="1" i="1" dirty="0">
              <a:solidFill>
                <a:srgbClr val="6F540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0AF18D7-D4AB-D6B7-58CF-5503854C48F5}"/>
              </a:ext>
            </a:extLst>
          </p:cNvPr>
          <p:cNvSpPr/>
          <p:nvPr/>
        </p:nvSpPr>
        <p:spPr>
          <a:xfrm>
            <a:off x="14684598" y="1866900"/>
            <a:ext cx="2574702" cy="407266"/>
          </a:xfrm>
          <a:prstGeom prst="rect">
            <a:avLst/>
          </a:prstGeom>
          <a:solidFill>
            <a:srgbClr val="607444"/>
          </a:solidFill>
        </p:spPr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4CB26A57-FBE6-B58E-43BE-E20DED5E8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075" y="2492014"/>
            <a:ext cx="4191000" cy="6548438"/>
          </a:xfrm>
          <a:prstGeom prst="rect">
            <a:avLst/>
          </a:prstGeom>
        </p:spPr>
      </p:pic>
      <p:pic>
        <p:nvPicPr>
          <p:cNvPr id="6" name="Picture 11">
            <a:extLst>
              <a:ext uri="{FF2B5EF4-FFF2-40B4-BE49-F238E27FC236}">
                <a16:creationId xmlns:a16="http://schemas.microsoft.com/office/drawing/2014/main" id="{DFEAAC28-A943-D41B-A8D4-38394D8D8BB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8" t="4346" r="4505"/>
          <a:stretch>
            <a:fillRect/>
          </a:stretch>
        </p:blipFill>
        <p:spPr>
          <a:xfrm>
            <a:off x="6934200" y="2492014"/>
            <a:ext cx="4191000" cy="6548438"/>
          </a:xfrm>
          <a:prstGeom prst="rect">
            <a:avLst/>
          </a:prstGeom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05B9B4DD-996D-EB6D-CED4-C0AF74F1DC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0069" y="2492014"/>
            <a:ext cx="4308032" cy="654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90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8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0604A-4AE7-0B1B-129C-87F29E76B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B6DCBC3-F71E-C704-6B54-E22C799F4BE4}"/>
              </a:ext>
            </a:extLst>
          </p:cNvPr>
          <p:cNvSpPr txBox="1"/>
          <p:nvPr/>
        </p:nvSpPr>
        <p:spPr>
          <a:xfrm>
            <a:off x="1028700" y="723900"/>
            <a:ext cx="12832219" cy="82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dirty="0">
                <a:solidFill>
                  <a:srgbClr val="6F54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‘Ion of Chios’ and ‘Ion the Poet’</a:t>
            </a:r>
            <a:endParaRPr lang="en-US" sz="5000" b="1" i="1" dirty="0">
              <a:solidFill>
                <a:srgbClr val="6F540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DB90AD-B404-12D1-CC26-078B262BA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71" y="1874202"/>
            <a:ext cx="6475451" cy="80640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9FAF2D-129F-391B-F18A-0F641C6D13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956" y="1854840"/>
            <a:ext cx="10254258" cy="45727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E17B5B-6BA6-97EB-D921-B2A3AD8468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809" y="6972300"/>
            <a:ext cx="10290138" cy="281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1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943A7-705C-3F4C-7288-EB43575A0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F35DC3D7-85B4-E185-B61B-9552701EEC45}"/>
              </a:ext>
            </a:extLst>
          </p:cNvPr>
          <p:cNvSpPr txBox="1"/>
          <p:nvPr/>
        </p:nvSpPr>
        <p:spPr>
          <a:xfrm>
            <a:off x="3809999" y="4914900"/>
            <a:ext cx="10668000" cy="8608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48"/>
              </a:lnSpc>
            </a:pPr>
            <a:r>
              <a:rPr lang="en-US" sz="7200" b="1" dirty="0">
                <a:solidFill>
                  <a:srgbClr val="7869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Thanks for your attention!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E375FCD-D774-BA10-3937-13B4F8D0FFD5}"/>
              </a:ext>
            </a:extLst>
          </p:cNvPr>
          <p:cNvSpPr txBox="1"/>
          <p:nvPr/>
        </p:nvSpPr>
        <p:spPr>
          <a:xfrm>
            <a:off x="5105399" y="7124700"/>
            <a:ext cx="8077199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9C83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Contact:  ruobingxian@fudan.edu.cn</a:t>
            </a:r>
          </a:p>
        </p:txBody>
      </p:sp>
    </p:spTree>
    <p:extLst>
      <p:ext uri="{BB962C8B-B14F-4D97-AF65-F5344CB8AC3E}">
        <p14:creationId xmlns:p14="http://schemas.microsoft.com/office/powerpoint/2010/main" val="375905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4840</TotalTime>
  <Words>90</Words>
  <Application>Microsoft Macintosh PowerPoint</Application>
  <PresentationFormat>Custom</PresentationFormat>
  <Paragraphs>16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Times New Roman Bold</vt:lpstr>
      <vt:lpstr>Calibri</vt:lpstr>
      <vt:lpstr>Times New Roman</vt:lpstr>
      <vt:lpstr>Garamond</vt:lpstr>
      <vt:lpstr>Times New Roman Bold Italics</vt:lpstr>
      <vt:lpstr>等线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Green Earthy Organic  General Retail Brand Guidelines Presentation</dc:title>
  <cp:lastModifiedBy>Microsoft Office User</cp:lastModifiedBy>
  <cp:revision>6</cp:revision>
  <dcterms:created xsi:type="dcterms:W3CDTF">2006-08-16T00:00:00Z</dcterms:created>
  <dcterms:modified xsi:type="dcterms:W3CDTF">2026-06-03T07:53:13Z</dcterms:modified>
  <dc:identifier>DAHLJNYYpFo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{"Label":"1","ContentProducer":"001191110105MA01AN806X00000","ProduceID":"DAHLJNYYpFo","ReservedCode1":"","ContentPropagator":"001191110105MA01AN806X00000","PropagateID":"DAHLJNYYpFo","ReservedCode2":""}</vt:lpwstr>
  </property>
</Properties>
</file>