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8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等线" panose="02010600030101010101" pitchFamily="2" charset="-122"/>
      <p:regular r:id="rId14"/>
      <p:bold r:id="rId15"/>
    </p:embeddedFont>
    <p:embeddedFont>
      <p:font typeface="Garamond" panose="02020404030301010803" pitchFamily="18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Times New Roman Italics" panose="02020503050405090304" pitchFamily="18" charset="0"/>
      <p:regular r:id="rId24"/>
      <p: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4E1"/>
    <a:srgbClr val="6B2F40"/>
    <a:srgbClr val="FBF9EF"/>
    <a:srgbClr val="633747"/>
    <a:srgbClr val="F0EAC8"/>
    <a:srgbClr val="5E7777"/>
    <a:srgbClr val="669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 autoAdjust="0"/>
    <p:restoredTop sz="94654" autoAdjust="0"/>
  </p:normalViewPr>
  <p:slideViewPr>
    <p:cSldViewPr>
      <p:cViewPr varScale="1">
        <p:scale>
          <a:sx n="72" d="100"/>
          <a:sy n="72" d="100"/>
        </p:scale>
        <p:origin x="66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A139D-77DC-4476-8FF9-48C2735B3FB8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BF7AE-322D-4180-97F8-49B102642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93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5BF7AE-322D-4180-97F8-49B10264222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554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cholarlyeditions.brillpublications.cn/bnjo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1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4E352D7-EEF1-1FD6-817E-521B6555428A}"/>
              </a:ext>
            </a:extLst>
          </p:cNvPr>
          <p:cNvSpPr/>
          <p:nvPr/>
        </p:nvSpPr>
        <p:spPr>
          <a:xfrm>
            <a:off x="1009642" y="2291053"/>
            <a:ext cx="16268694" cy="4953000"/>
          </a:xfrm>
          <a:prstGeom prst="rect">
            <a:avLst/>
          </a:prstGeom>
          <a:solidFill>
            <a:srgbClr val="F7F4E1"/>
          </a:solidFill>
          <a:ln w="57150">
            <a:solidFill>
              <a:srgbClr val="6B2F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AutoShape 5"/>
          <p:cNvSpPr/>
          <p:nvPr/>
        </p:nvSpPr>
        <p:spPr>
          <a:xfrm>
            <a:off x="2886861" y="5337956"/>
            <a:ext cx="12610335" cy="0"/>
          </a:xfrm>
          <a:prstGeom prst="line">
            <a:avLst/>
          </a:prstGeom>
          <a:ln w="28575" cap="flat">
            <a:solidFill>
              <a:srgbClr val="461415">
                <a:alpha val="41961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495290" y="3155752"/>
            <a:ext cx="17297401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dirty="0">
                <a:solidFill>
                  <a:srgbClr val="6B2F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Greek Literature in the Era of </a:t>
            </a:r>
          </a:p>
          <a:p>
            <a:pPr algn="ctr"/>
            <a:r>
              <a:rPr lang="en-US" sz="6000" b="1" dirty="0">
                <a:solidFill>
                  <a:srgbClr val="6B2F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6000" b="1" dirty="0" err="1">
                <a:solidFill>
                  <a:srgbClr val="6B2F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Atheno</a:t>
            </a:r>
            <a:r>
              <a:rPr lang="en-US" sz="6000" b="1" dirty="0">
                <a:solidFill>
                  <a:srgbClr val="6B2F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-Peloponnesian Wars (431–404 BCE)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7467" y="5960709"/>
            <a:ext cx="10713052" cy="627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36"/>
              </a:lnSpc>
            </a:pPr>
            <a:r>
              <a:rPr lang="en-US" sz="3600" dirty="0">
                <a:solidFill>
                  <a:srgbClr val="6B2F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Hecataeus of Miletus (I): </a:t>
            </a:r>
            <a:r>
              <a:rPr lang="en-US" sz="3600" i="1" dirty="0">
                <a:solidFill>
                  <a:srgbClr val="6B2F4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Genealogies</a:t>
            </a:r>
            <a:r>
              <a:rPr lang="en-US" sz="3600" dirty="0">
                <a:solidFill>
                  <a:srgbClr val="6B2F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Critical Stance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38790" y="384957"/>
            <a:ext cx="6610397" cy="439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377" dirty="0">
                <a:solidFill>
                  <a:srgbClr val="FFFDED"/>
                </a:solidFill>
                <a:latin typeface="Garamond" panose="02020404030301010803" pitchFamily="18" charset="0"/>
                <a:ea typeface="Garamond"/>
                <a:cs typeface="Garamond"/>
                <a:sym typeface="Garamond"/>
              </a:rPr>
              <a:t>Spring Semester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07100" y="8391608"/>
            <a:ext cx="396985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37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FBF9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Dr. </a:t>
            </a:r>
            <a:r>
              <a:rPr lang="en-US" sz="3200" u="none" strike="noStrike" dirty="0" err="1">
                <a:solidFill>
                  <a:srgbClr val="FBF9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Ruobing</a:t>
            </a:r>
            <a:r>
              <a:rPr lang="en-US" sz="3200" u="none" strike="noStrike" dirty="0">
                <a:solidFill>
                  <a:srgbClr val="FBF9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Xian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1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75683"/>
            <a:ext cx="18288000" cy="8311318"/>
            <a:chOff x="0" y="0"/>
            <a:chExt cx="4982897" cy="23553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2897" cy="2355304"/>
            </a:xfrm>
            <a:custGeom>
              <a:avLst/>
              <a:gdLst/>
              <a:ahLst/>
              <a:cxnLst/>
              <a:rect l="l" t="t" r="r" b="b"/>
              <a:pathLst>
                <a:path w="4982897" h="2355304">
                  <a:moveTo>
                    <a:pt x="4982897" y="1228"/>
                  </a:moveTo>
                  <a:lnTo>
                    <a:pt x="4982897" y="2354076"/>
                  </a:lnTo>
                  <a:cubicBezTo>
                    <a:pt x="4982897" y="2354755"/>
                    <a:pt x="4982348" y="2355304"/>
                    <a:pt x="4981670" y="2355304"/>
                  </a:cubicBezTo>
                  <a:lnTo>
                    <a:pt x="1228" y="2355304"/>
                  </a:lnTo>
                  <a:cubicBezTo>
                    <a:pt x="550" y="2355304"/>
                    <a:pt x="0" y="2354755"/>
                    <a:pt x="0" y="2354076"/>
                  </a:cubicBezTo>
                  <a:lnTo>
                    <a:pt x="0" y="1228"/>
                  </a:lnTo>
                  <a:cubicBezTo>
                    <a:pt x="0" y="550"/>
                    <a:pt x="550" y="0"/>
                    <a:pt x="1228" y="0"/>
                  </a:cubicBezTo>
                  <a:lnTo>
                    <a:pt x="4981670" y="0"/>
                  </a:lnTo>
                  <a:cubicBezTo>
                    <a:pt x="4982348" y="0"/>
                    <a:pt x="4982897" y="550"/>
                    <a:pt x="4982897" y="1228"/>
                  </a:cubicBezTo>
                  <a:close/>
                </a:path>
              </a:pathLst>
            </a:custGeom>
            <a:solidFill>
              <a:srgbClr val="FFFEF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982897" cy="23553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6115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87978" y="3123885"/>
            <a:ext cx="11826829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5"/>
              </a:lnSpc>
            </a:pPr>
            <a:r>
              <a:rPr lang="en-US" sz="5096" b="1" dirty="0">
                <a:solidFill>
                  <a:srgbClr val="669191"/>
                </a:solidFill>
                <a:latin typeface="Times New Roman" panose="02020603050405020304" pitchFamily="18" charset="0"/>
                <a:ea typeface="思源黑体 Bold"/>
                <a:cs typeface="Times New Roman" panose="02020603050405020304" pitchFamily="18" charset="0"/>
                <a:sym typeface="思源黑体 Bold"/>
              </a:rPr>
              <a:t>Testimonia on Hecataeus of Miletus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68016" y="5195923"/>
            <a:ext cx="6151965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115"/>
              </a:lnSpc>
              <a:spcBef>
                <a:spcPct val="0"/>
              </a:spcBef>
            </a:pPr>
            <a:r>
              <a:rPr lang="en-US" sz="5096" b="1" u="none" strike="noStrike" dirty="0">
                <a:solidFill>
                  <a:srgbClr val="669191"/>
                </a:solidFill>
                <a:latin typeface="Times New Roman" panose="02020603050405020304" pitchFamily="18" charset="0"/>
                <a:ea typeface="思源黑体 Bold"/>
                <a:cs typeface="Times New Roman" panose="02020603050405020304" pitchFamily="18" charset="0"/>
                <a:sym typeface="思源黑体 Bold"/>
              </a:rPr>
              <a:t>Hecataeus’ Voice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267961"/>
            <a:ext cx="16825120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15"/>
              </a:lnSpc>
              <a:spcBef>
                <a:spcPct val="0"/>
              </a:spcBef>
            </a:pPr>
            <a:r>
              <a:rPr lang="en-US" sz="5096" b="1" u="none" strike="noStrike" dirty="0">
                <a:solidFill>
                  <a:srgbClr val="669191"/>
                </a:solidFill>
                <a:latin typeface="Times New Roman" panose="02020603050405020304" pitchFamily="18" charset="0"/>
                <a:ea typeface="思源黑体 Bold"/>
                <a:cs typeface="Times New Roman" panose="02020603050405020304" pitchFamily="18" charset="0"/>
                <a:sym typeface="思源黑体 Bold"/>
              </a:rPr>
              <a:t>Hecataeus’ </a:t>
            </a:r>
            <a:r>
              <a:rPr lang="en-US" sz="5096" b="1" i="1" u="none" strike="noStrike" dirty="0">
                <a:solidFill>
                  <a:srgbClr val="669191"/>
                </a:solidFill>
                <a:latin typeface="Times New Roman" panose="02020603050405020304" pitchFamily="18" charset="0"/>
                <a:ea typeface="思源黑体 Bold"/>
                <a:cs typeface="Times New Roman" panose="02020603050405020304" pitchFamily="18" charset="0"/>
                <a:sym typeface="思源黑体 Bold"/>
              </a:rPr>
              <a:t>Genealogies</a:t>
            </a:r>
            <a:r>
              <a:rPr lang="en-US" sz="5096" b="1" u="none" strike="noStrike" dirty="0">
                <a:solidFill>
                  <a:srgbClr val="669191"/>
                </a:solidFill>
                <a:latin typeface="Times New Roman" panose="02020603050405020304" pitchFamily="18" charset="0"/>
                <a:ea typeface="思源黑体 Bold"/>
                <a:cs typeface="Times New Roman" panose="02020603050405020304" pitchFamily="18" charset="0"/>
                <a:sym typeface="思源黑体 Bold"/>
              </a:rPr>
              <a:t> and Critical Historiography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30583" y="672794"/>
            <a:ext cx="11826829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5"/>
              </a:lnSpc>
            </a:pPr>
            <a:r>
              <a:rPr lang="en-US" sz="5096" b="1" dirty="0">
                <a:solidFill>
                  <a:srgbClr val="FFFDED"/>
                </a:solidFill>
                <a:latin typeface="Times New Roman" panose="02020603050405020304" pitchFamily="18" charset="0"/>
                <a:ea typeface="思源黑体 Bold"/>
                <a:cs typeface="Times New Roman" panose="02020603050405020304" pitchFamily="18" charset="0"/>
                <a:sym typeface="思源黑体 Bold"/>
              </a:rPr>
              <a:t>Table of Contents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60B314C-BCDC-BE28-096A-278983D72818}"/>
              </a:ext>
            </a:extLst>
          </p:cNvPr>
          <p:cNvSpPr txBox="1"/>
          <p:nvPr/>
        </p:nvSpPr>
        <p:spPr>
          <a:xfrm>
            <a:off x="1028700" y="885825"/>
            <a:ext cx="16573500" cy="697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39"/>
              </a:lnSpc>
            </a:pPr>
            <a:r>
              <a:rPr lang="en-US" sz="4000" b="1" dirty="0">
                <a:solidFill>
                  <a:srgbClr val="7834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 Bold"/>
              </a:rPr>
              <a:t>Hecataeus of Miletus (late sixth- and early fifth-century BCE intellectual)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5A96D2-61A5-60AF-F088-CCC56DFB5FFF}"/>
              </a:ext>
            </a:extLst>
          </p:cNvPr>
          <p:cNvSpPr txBox="1"/>
          <p:nvPr/>
        </p:nvSpPr>
        <p:spPr>
          <a:xfrm>
            <a:off x="1981200" y="8862822"/>
            <a:ext cx="9144000" cy="538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altLang="zh-CN" sz="2700" u="sng" kern="100" dirty="0">
                <a:solidFill>
                  <a:srgbClr val="0563C1"/>
                </a:solidFill>
                <a:effectLst/>
                <a:latin typeface="Lato" panose="020F0502020204030203" pitchFamily="34" charset="0"/>
                <a:ea typeface="等线" panose="02010600030101010101" pitchFamily="2" charset="-122"/>
                <a:cs typeface="Times New Roman" panose="02020603050405020304" pitchFamily="18" charset="0"/>
                <a:hlinkClick r:id="rId2"/>
              </a:rPr>
              <a:t>https://scholarlyeditions.brillpublications.cn/bnjo/</a:t>
            </a:r>
            <a:endParaRPr lang="zh-CN" altLang="zh-CN" sz="2700" kern="1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F46EBCD-6FB7-3A4E-B9D7-AB453C49B6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171700"/>
            <a:ext cx="15568209" cy="6400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16BF8-2F13-B08A-28A0-E7FE209A2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86CBBA31-FDCB-B6E1-A350-6F2F24775CA1}"/>
              </a:ext>
            </a:extLst>
          </p:cNvPr>
          <p:cNvSpPr txBox="1"/>
          <p:nvPr/>
        </p:nvSpPr>
        <p:spPr>
          <a:xfrm>
            <a:off x="914400" y="1028700"/>
            <a:ext cx="13183497" cy="70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9"/>
              </a:lnSpc>
            </a:pPr>
            <a:r>
              <a:rPr lang="en-US" sz="4400" b="1" dirty="0">
                <a:solidFill>
                  <a:srgbClr val="7834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 Bold"/>
              </a:rPr>
              <a:t>Hecataeus’ Works 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0A92F5EA-6F47-EF98-CA8F-4FAA584D7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4759" y="2400300"/>
            <a:ext cx="5991633" cy="6858000"/>
          </a:xfrm>
          <a:prstGeom prst="rect">
            <a:avLst/>
          </a:prstGeom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4D24468C-50E2-D62A-EAB0-E0B2F5D7A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10801" y="571501"/>
            <a:ext cx="6477000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7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14400" y="1181100"/>
            <a:ext cx="13183497" cy="703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9"/>
              </a:lnSpc>
            </a:pPr>
            <a:r>
              <a:rPr lang="en-US" sz="4400" b="1" dirty="0">
                <a:solidFill>
                  <a:srgbClr val="783435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Hecataeus’ Relationship with the ‘Milesian School’?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761F4DB1-D186-6214-8FA3-A65B9B7EAF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442" y="2552700"/>
            <a:ext cx="15773116" cy="655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74B11-7D39-828B-A08F-C85F297A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6F3353C7-BDBD-83ED-5026-27E2CF02F78A}"/>
              </a:ext>
            </a:extLst>
          </p:cNvPr>
          <p:cNvSpPr txBox="1"/>
          <p:nvPr/>
        </p:nvSpPr>
        <p:spPr>
          <a:xfrm>
            <a:off x="914400" y="1028700"/>
            <a:ext cx="13183497" cy="70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9"/>
              </a:lnSpc>
            </a:pPr>
            <a:r>
              <a:rPr lang="en-US" sz="4400" b="1" dirty="0">
                <a:solidFill>
                  <a:srgbClr val="7834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 Bold"/>
              </a:rPr>
              <a:t>Herodotus’ Testimonia on Hecataeus 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3A34F1DE-CA4E-A95D-F6D8-9238F716AF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400300"/>
            <a:ext cx="7855952" cy="6333676"/>
          </a:xfrm>
          <a:prstGeom prst="rect">
            <a:avLst/>
          </a:prstGeom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95AEE036-56DE-0933-243D-E1B9C934C9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2400300"/>
            <a:ext cx="4839821" cy="633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6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54F4C-E7C7-5AD5-803A-FFE71B34F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4B90A27B-D987-6D69-A0DB-DF3A6DBEB36B}"/>
              </a:ext>
            </a:extLst>
          </p:cNvPr>
          <p:cNvSpPr txBox="1"/>
          <p:nvPr/>
        </p:nvSpPr>
        <p:spPr>
          <a:xfrm>
            <a:off x="990600" y="1257300"/>
            <a:ext cx="13183497" cy="70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9"/>
              </a:lnSpc>
            </a:pPr>
            <a:r>
              <a:rPr lang="en-US" sz="4400" b="1" dirty="0">
                <a:solidFill>
                  <a:srgbClr val="7834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 Bold"/>
              </a:rPr>
              <a:t>He</a:t>
            </a:r>
            <a:r>
              <a:rPr lang="en-US" altLang="zh-CN" sz="4400" b="1" dirty="0">
                <a:solidFill>
                  <a:srgbClr val="7834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 Bold"/>
              </a:rPr>
              <a:t>cataeus</a:t>
            </a:r>
            <a:r>
              <a:rPr lang="en-US" sz="4400" b="1" dirty="0">
                <a:solidFill>
                  <a:srgbClr val="7834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 Bold"/>
              </a:rPr>
              <a:t>’ Voice</a:t>
            </a:r>
          </a:p>
        </p:txBody>
      </p:sp>
      <p:pic>
        <p:nvPicPr>
          <p:cNvPr id="2" name="Picture 11">
            <a:extLst>
              <a:ext uri="{FF2B5EF4-FFF2-40B4-BE49-F238E27FC236}">
                <a16:creationId xmlns:a16="http://schemas.microsoft.com/office/drawing/2014/main" id="{B7BAE9B3-7650-1DEE-1621-F25F6DF31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416896"/>
            <a:ext cx="12540880" cy="3886200"/>
          </a:xfrm>
          <a:prstGeom prst="rect">
            <a:avLst/>
          </a:prstGeom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0A5E0D35-7124-057F-261E-66401A1C7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0" y="2628900"/>
            <a:ext cx="4227704" cy="546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4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2C453-1869-2D26-B150-8352238A1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81A510E6-7F4A-AE1C-AD43-5F554F628520}"/>
              </a:ext>
            </a:extLst>
          </p:cNvPr>
          <p:cNvSpPr txBox="1"/>
          <p:nvPr/>
        </p:nvSpPr>
        <p:spPr>
          <a:xfrm>
            <a:off x="933450" y="1100739"/>
            <a:ext cx="14897100" cy="709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39"/>
              </a:lnSpc>
            </a:pPr>
            <a:r>
              <a:rPr lang="en-US" sz="4400" b="1" dirty="0">
                <a:solidFill>
                  <a:srgbClr val="7834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 Bold"/>
              </a:rPr>
              <a:t>The Hesiodic </a:t>
            </a:r>
            <a:r>
              <a:rPr lang="en-US" sz="4400" b="1" i="1" dirty="0">
                <a:solidFill>
                  <a:srgbClr val="7834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 Bold"/>
              </a:rPr>
              <a:t>Catalogue of Women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AF6C2B85-9AE3-282E-279D-93060DF42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628900"/>
            <a:ext cx="4144617" cy="6355080"/>
          </a:xfrm>
          <a:prstGeom prst="rect">
            <a:avLst/>
          </a:prstGeom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ED28AABC-72B2-9CCB-540F-098BDBEFA0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15401" y="2628900"/>
            <a:ext cx="8382000" cy="635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4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22645-9F80-1D57-65C0-99CD9C73B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32F51B35-B908-0CAD-6B43-002E1C354B29}"/>
              </a:ext>
            </a:extLst>
          </p:cNvPr>
          <p:cNvSpPr txBox="1"/>
          <p:nvPr/>
        </p:nvSpPr>
        <p:spPr>
          <a:xfrm>
            <a:off x="0" y="1730310"/>
            <a:ext cx="18288000" cy="831131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6115"/>
              </a:lnSpc>
              <a:spcBef>
                <a:spcPct val="0"/>
              </a:spcBef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0B8E421-91B2-7B6A-C997-BE48CED5FBD6}"/>
              </a:ext>
            </a:extLst>
          </p:cNvPr>
          <p:cNvSpPr txBox="1"/>
          <p:nvPr/>
        </p:nvSpPr>
        <p:spPr>
          <a:xfrm>
            <a:off x="1028699" y="976006"/>
            <a:ext cx="16230600" cy="697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39"/>
              </a:lnSpc>
            </a:pPr>
            <a:r>
              <a:rPr lang="en-US" sz="4000" b="1" dirty="0">
                <a:solidFill>
                  <a:srgbClr val="7834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 Bold"/>
              </a:rPr>
              <a:t>Hecataeus, the Iconoclast: From Genealogist to (Critical) Historiography? </a:t>
            </a:r>
          </a:p>
        </p:txBody>
      </p:sp>
      <p:pic>
        <p:nvPicPr>
          <p:cNvPr id="2" name="Picture 13">
            <a:extLst>
              <a:ext uri="{FF2B5EF4-FFF2-40B4-BE49-F238E27FC236}">
                <a16:creationId xmlns:a16="http://schemas.microsoft.com/office/drawing/2014/main" id="{39532112-7DC3-6320-E53F-1EB0579DA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901497"/>
            <a:ext cx="3937000" cy="6113354"/>
          </a:xfrm>
          <a:prstGeom prst="rect">
            <a:avLst/>
          </a:prstGeom>
        </p:spPr>
      </p:pic>
      <p:pic>
        <p:nvPicPr>
          <p:cNvPr id="3" name="Picture 14">
            <a:extLst>
              <a:ext uri="{FF2B5EF4-FFF2-40B4-BE49-F238E27FC236}">
                <a16:creationId xmlns:a16="http://schemas.microsoft.com/office/drawing/2014/main" id="{154D5CBA-04A3-E5A1-2B6D-DE714542E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395" y="2901497"/>
            <a:ext cx="3947209" cy="6110231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631F11C-803D-6102-DF24-981C70B161EB}"/>
              </a:ext>
            </a:extLst>
          </p:cNvPr>
          <p:cNvPicPr>
            <a:picLocks/>
          </p:cNvPicPr>
          <p:nvPr/>
        </p:nvPicPr>
        <p:blipFill>
          <a:blip r:embed="rId4"/>
          <a:srcRect t="6349"/>
          <a:stretch>
            <a:fillRect/>
          </a:stretch>
        </p:blipFill>
        <p:spPr>
          <a:xfrm>
            <a:off x="11887200" y="2641912"/>
            <a:ext cx="4529312" cy="66294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4022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6C84A-24E3-01A7-B531-99085FEE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897A0710-FF5A-7B9B-0646-C84150521C78}"/>
              </a:ext>
            </a:extLst>
          </p:cNvPr>
          <p:cNvSpPr txBox="1"/>
          <p:nvPr/>
        </p:nvSpPr>
        <p:spPr>
          <a:xfrm>
            <a:off x="1028700" y="885825"/>
            <a:ext cx="13183497" cy="70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9"/>
              </a:lnSpc>
            </a:pPr>
            <a:r>
              <a:rPr lang="en-US" sz="4400" b="1" dirty="0">
                <a:solidFill>
                  <a:srgbClr val="7834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 Bold"/>
              </a:rPr>
              <a:t>Hecataeus and the Origin of Wine (F 15)</a:t>
            </a:r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DEFFA95A-E53A-2D81-2A87-A9A3F4DF7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239" y="2933700"/>
            <a:ext cx="5984875" cy="4419600"/>
          </a:xfrm>
          <a:prstGeom prst="rect">
            <a:avLst/>
          </a:prstGeom>
        </p:spPr>
      </p:pic>
      <p:pic>
        <p:nvPicPr>
          <p:cNvPr id="6" name="Picture 18">
            <a:extLst>
              <a:ext uri="{FF2B5EF4-FFF2-40B4-BE49-F238E27FC236}">
                <a16:creationId xmlns:a16="http://schemas.microsoft.com/office/drawing/2014/main" id="{5EFF7D72-1B43-05F7-0491-703D09073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1560834"/>
            <a:ext cx="5680073" cy="824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5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19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D13A1-D393-3784-E4E7-7402E4B3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B19F7F-7B11-6B0F-E1AD-F34C03DAD7C3}"/>
              </a:ext>
            </a:extLst>
          </p:cNvPr>
          <p:cNvSpPr/>
          <p:nvPr/>
        </p:nvSpPr>
        <p:spPr>
          <a:xfrm>
            <a:off x="1828799" y="2705100"/>
            <a:ext cx="14630400" cy="4953000"/>
          </a:xfrm>
          <a:prstGeom prst="rect">
            <a:avLst/>
          </a:prstGeom>
          <a:solidFill>
            <a:srgbClr val="F7F4E1"/>
          </a:solidFill>
          <a:ln w="57150">
            <a:solidFill>
              <a:srgbClr val="6B2F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64EAF9F-2A74-1F64-125C-91C80F808C84}"/>
              </a:ext>
            </a:extLst>
          </p:cNvPr>
          <p:cNvSpPr/>
          <p:nvPr/>
        </p:nvSpPr>
        <p:spPr>
          <a:xfrm>
            <a:off x="4170112" y="5372100"/>
            <a:ext cx="9947775" cy="0"/>
          </a:xfrm>
          <a:prstGeom prst="line">
            <a:avLst/>
          </a:prstGeom>
          <a:ln w="28575" cap="flat">
            <a:solidFill>
              <a:srgbClr val="461415">
                <a:alpha val="41961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F11F9A2-8781-F0EE-6DCA-C129A3787655}"/>
              </a:ext>
            </a:extLst>
          </p:cNvPr>
          <p:cNvSpPr txBox="1"/>
          <p:nvPr/>
        </p:nvSpPr>
        <p:spPr>
          <a:xfrm>
            <a:off x="2743200" y="3113775"/>
            <a:ext cx="13797084" cy="1774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8800" b="1" dirty="0">
                <a:solidFill>
                  <a:srgbClr val="6B2F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your attention！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56EE346-8F07-B834-A164-46F6DABA8FD3}"/>
              </a:ext>
            </a:extLst>
          </p:cNvPr>
          <p:cNvSpPr txBox="1"/>
          <p:nvPr/>
        </p:nvSpPr>
        <p:spPr>
          <a:xfrm>
            <a:off x="5695948" y="6277528"/>
            <a:ext cx="6896101" cy="627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36"/>
              </a:lnSpc>
            </a:pPr>
            <a:r>
              <a:rPr lang="en-US" sz="3600" dirty="0">
                <a:solidFill>
                  <a:srgbClr val="6B2F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Contact:  ruobingxian@fudan.edu.cn</a:t>
            </a:r>
          </a:p>
        </p:txBody>
      </p:sp>
    </p:spTree>
    <p:extLst>
      <p:ext uri="{BB962C8B-B14F-4D97-AF65-F5344CB8AC3E}">
        <p14:creationId xmlns:p14="http://schemas.microsoft.com/office/powerpoint/2010/main" val="62416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2569</TotalTime>
  <Words>134</Words>
  <Application>Microsoft Macintosh PowerPoint</Application>
  <PresentationFormat>Custom</PresentationFormat>
  <Paragraphs>21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Garamond</vt:lpstr>
      <vt:lpstr>Lato</vt:lpstr>
      <vt:lpstr>Times New Roman Italics</vt:lpstr>
      <vt:lpstr>等线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工作内容概述</dc:title>
  <cp:lastModifiedBy>Microsoft Office User</cp:lastModifiedBy>
  <cp:revision>16</cp:revision>
  <dcterms:created xsi:type="dcterms:W3CDTF">2006-08-16T00:00:00Z</dcterms:created>
  <dcterms:modified xsi:type="dcterms:W3CDTF">2026-03-31T05:25:52Z</dcterms:modified>
  <dc:identifier>DAHFUFkrqHw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{"Label":"1","ContentProducer":"001191110105MA01AN806X00000","ProduceID":"DAHFUFkrqHw","ReservedCode1":"","ContentPropagator":"001191110105MA01AN806X00000","PropagateID":"DAHFUFkrqHw","ReservedCode2":""}</vt:lpwstr>
  </property>
</Properties>
</file>