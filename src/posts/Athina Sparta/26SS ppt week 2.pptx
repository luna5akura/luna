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Futura Bold" panose="020B0602020204020303" pitchFamily="34" charset="-79"/>
      <p:regular r:id="rId14"/>
      <p:italic r:id="rId15"/>
      <p:boldItalic r:id="rId16"/>
    </p:embeddedFont>
    <p:embeddedFont>
      <p:font typeface="Times New Roman 1" panose="020206030504050203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CBC1B0"/>
    <a:srgbClr val="FFFFFF"/>
    <a:srgbClr val="EAF1F1"/>
    <a:srgbClr val="B7D1DB"/>
    <a:srgbClr val="DBE8ED"/>
    <a:srgbClr val="CAE0E4"/>
    <a:srgbClr val="EAE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 autoAdjust="0"/>
    <p:restoredTop sz="94619" autoAdjust="0"/>
  </p:normalViewPr>
  <p:slideViewPr>
    <p:cSldViewPr>
      <p:cViewPr varScale="1">
        <p:scale>
          <a:sx n="73" d="100"/>
          <a:sy n="73" d="100"/>
        </p:scale>
        <p:origin x="58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AA7CAB5C-6923-EA8B-A800-2DD9E7B74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" y="0"/>
            <a:ext cx="18288000" cy="10287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2534157" y="3587941"/>
            <a:ext cx="13713590" cy="1621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 Bold"/>
                <a:cs typeface="Times New Roman" panose="02020603050405020304" pitchFamily="18" charset="0"/>
                <a:sym typeface="Times New Roman 1 Bold"/>
              </a:rPr>
              <a:t>Greek Literature in the Era of the </a:t>
            </a:r>
          </a:p>
          <a:p>
            <a:pPr algn="ctr">
              <a:lnSpc>
                <a:spcPts val="6480"/>
              </a:lnSpc>
            </a:pPr>
            <a:r>
              <a:rPr lang="en-US" sz="5400" b="1" dirty="0" err="1">
                <a:solidFill>
                  <a:srgbClr val="3A3B3C"/>
                </a:solidFill>
                <a:latin typeface="Times New Roman" panose="02020603050405020304" pitchFamily="18" charset="0"/>
                <a:ea typeface="Times New Roman 1 Bold"/>
                <a:cs typeface="Times New Roman" panose="02020603050405020304" pitchFamily="18" charset="0"/>
                <a:sym typeface="Times New Roman 1 Bold"/>
              </a:rPr>
              <a:t>Atheno</a:t>
            </a:r>
            <a:r>
              <a:rPr lang="en-US" sz="5400" b="1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 Bold"/>
                <a:cs typeface="Times New Roman" panose="02020603050405020304" pitchFamily="18" charset="0"/>
                <a:sym typeface="Times New Roman 1 Bold"/>
              </a:rPr>
              <a:t>-Peloponnesian Wars (431–404 BCE)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30445" y="5535126"/>
            <a:ext cx="6241285" cy="733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3600" b="1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 Bold"/>
                <a:cs typeface="Times New Roman" panose="02020603050405020304" pitchFamily="18" charset="0"/>
                <a:sym typeface="Times New Roman 1 Bold"/>
              </a:rPr>
              <a:t>Herodotus and His Colleagues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80075" y="7361114"/>
            <a:ext cx="3527850" cy="55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2700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Prof. Dr. </a:t>
            </a:r>
            <a:r>
              <a:rPr lang="en-US" sz="2700" dirty="0" err="1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Ruobing</a:t>
            </a:r>
            <a:r>
              <a:rPr lang="en-US" sz="2700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 Xian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95716" y="6553394"/>
            <a:ext cx="5599181" cy="503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0"/>
              </a:lnSpc>
            </a:pPr>
            <a:r>
              <a:rPr lang="en-US" sz="3000" spc="174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Spring Semester 2026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B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9A138-A1AE-D47E-0121-3B65E3C3D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DD973186-0DAB-3E9B-DD97-439914B11074}"/>
              </a:ext>
            </a:extLst>
          </p:cNvPr>
          <p:cNvGrpSpPr/>
          <p:nvPr/>
        </p:nvGrpSpPr>
        <p:grpSpPr>
          <a:xfrm rot="-10800000">
            <a:off x="0" y="2147467"/>
            <a:ext cx="18288000" cy="7864877"/>
            <a:chOff x="0" y="0"/>
            <a:chExt cx="812800" cy="93024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D11CA03-BD9B-1681-CC30-845FDEA1DD67}"/>
                </a:ext>
              </a:extLst>
            </p:cNvPr>
            <p:cNvSpPr/>
            <p:nvPr/>
          </p:nvSpPr>
          <p:spPr>
            <a:xfrm>
              <a:off x="0" y="0"/>
              <a:ext cx="812800" cy="930243"/>
            </a:xfrm>
            <a:custGeom>
              <a:avLst/>
              <a:gdLst/>
              <a:ahLst/>
              <a:cxnLst/>
              <a:rect l="l" t="t" r="r" b="b"/>
              <a:pathLst>
                <a:path w="812800" h="930243">
                  <a:moveTo>
                    <a:pt x="0" y="0"/>
                  </a:moveTo>
                  <a:lnTo>
                    <a:pt x="812800" y="0"/>
                  </a:lnTo>
                  <a:lnTo>
                    <a:pt x="812800" y="930243"/>
                  </a:lnTo>
                  <a:lnTo>
                    <a:pt x="0" y="930243"/>
                  </a:lnTo>
                  <a:close/>
                </a:path>
              </a:pathLst>
            </a:custGeom>
            <a:solidFill>
              <a:srgbClr val="F1EEE6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87BAB76-D3C9-C387-576D-D7DD7C0EC0BB}"/>
                </a:ext>
              </a:extLst>
            </p:cNvPr>
            <p:cNvSpPr txBox="1"/>
            <p:nvPr/>
          </p:nvSpPr>
          <p:spPr>
            <a:xfrm>
              <a:off x="0" y="-28575"/>
              <a:ext cx="812800" cy="958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8">
            <a:extLst>
              <a:ext uri="{FF2B5EF4-FFF2-40B4-BE49-F238E27FC236}">
                <a16:creationId xmlns:a16="http://schemas.microsoft.com/office/drawing/2014/main" id="{417498C4-CCCD-06FF-C656-0FEBBB038DAC}"/>
              </a:ext>
            </a:extLst>
          </p:cNvPr>
          <p:cNvGrpSpPr/>
          <p:nvPr/>
        </p:nvGrpSpPr>
        <p:grpSpPr>
          <a:xfrm>
            <a:off x="8020041" y="2932810"/>
            <a:ext cx="9353559" cy="6007021"/>
            <a:chOff x="0" y="0"/>
            <a:chExt cx="2613987" cy="1384225"/>
          </a:xfrm>
        </p:grpSpPr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5AAE1C76-FC6B-87EC-9515-F01CFF937A35}"/>
                </a:ext>
              </a:extLst>
            </p:cNvPr>
            <p:cNvSpPr/>
            <p:nvPr/>
          </p:nvSpPr>
          <p:spPr>
            <a:xfrm>
              <a:off x="0" y="0"/>
              <a:ext cx="2613987" cy="1384225"/>
            </a:xfrm>
            <a:custGeom>
              <a:avLst/>
              <a:gdLst/>
              <a:ahLst/>
              <a:cxnLst/>
              <a:rect l="l" t="t" r="r" b="b"/>
              <a:pathLst>
                <a:path w="2613987" h="1384225">
                  <a:moveTo>
                    <a:pt x="4913" y="0"/>
                  </a:moveTo>
                  <a:lnTo>
                    <a:pt x="2609074" y="0"/>
                  </a:lnTo>
                  <a:cubicBezTo>
                    <a:pt x="2610377" y="0"/>
                    <a:pt x="2611627" y="518"/>
                    <a:pt x="2612548" y="1439"/>
                  </a:cubicBezTo>
                  <a:cubicBezTo>
                    <a:pt x="2613470" y="2360"/>
                    <a:pt x="2613987" y="3610"/>
                    <a:pt x="2613987" y="4913"/>
                  </a:cubicBezTo>
                  <a:lnTo>
                    <a:pt x="2613987" y="1379313"/>
                  </a:lnTo>
                  <a:cubicBezTo>
                    <a:pt x="2613987" y="1380616"/>
                    <a:pt x="2613470" y="1381865"/>
                    <a:pt x="2612548" y="1382786"/>
                  </a:cubicBezTo>
                  <a:cubicBezTo>
                    <a:pt x="2611627" y="1383708"/>
                    <a:pt x="2610377" y="1384225"/>
                    <a:pt x="2609074" y="1384225"/>
                  </a:cubicBezTo>
                  <a:lnTo>
                    <a:pt x="4913" y="1384225"/>
                  </a:lnTo>
                  <a:cubicBezTo>
                    <a:pt x="2200" y="1384225"/>
                    <a:pt x="0" y="1382026"/>
                    <a:pt x="0" y="1379313"/>
                  </a:cubicBezTo>
                  <a:lnTo>
                    <a:pt x="0" y="4913"/>
                  </a:lnTo>
                  <a:cubicBezTo>
                    <a:pt x="0" y="2200"/>
                    <a:pt x="2200" y="0"/>
                    <a:pt x="4913" y="0"/>
                  </a:cubicBezTo>
                  <a:close/>
                </a:path>
              </a:pathLst>
            </a:custGeom>
            <a:solidFill>
              <a:srgbClr val="F9F8F6"/>
            </a:solidFill>
          </p:spPr>
        </p:sp>
        <p:sp>
          <p:nvSpPr>
            <p:cNvPr id="30" name="TextBox 10">
              <a:extLst>
                <a:ext uri="{FF2B5EF4-FFF2-40B4-BE49-F238E27FC236}">
                  <a16:creationId xmlns:a16="http://schemas.microsoft.com/office/drawing/2014/main" id="{2076722A-3F19-B422-06C5-584E2BD1FC89}"/>
                </a:ext>
              </a:extLst>
            </p:cNvPr>
            <p:cNvSpPr txBox="1"/>
            <p:nvPr/>
          </p:nvSpPr>
          <p:spPr>
            <a:xfrm>
              <a:off x="0" y="-47625"/>
              <a:ext cx="2613987" cy="14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7"/>
                </a:lnSpc>
              </a:pPr>
              <a:endParaRPr/>
            </a:p>
          </p:txBody>
        </p:sp>
      </p:grpSp>
      <p:sp>
        <p:nvSpPr>
          <p:cNvPr id="22" name="TextBox 22">
            <a:extLst>
              <a:ext uri="{FF2B5EF4-FFF2-40B4-BE49-F238E27FC236}">
                <a16:creationId xmlns:a16="http://schemas.microsoft.com/office/drawing/2014/main" id="{EB1D9D28-1941-E2DE-A7BB-F2AE54AEABF8}"/>
              </a:ext>
            </a:extLst>
          </p:cNvPr>
          <p:cNvSpPr txBox="1"/>
          <p:nvPr/>
        </p:nvSpPr>
        <p:spPr>
          <a:xfrm>
            <a:off x="4724400" y="731903"/>
            <a:ext cx="5600691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48"/>
              </a:lnSpc>
            </a:pPr>
            <a:r>
              <a:rPr lang="en-US" sz="6600" i="1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Histories</a:t>
            </a:r>
            <a:r>
              <a:rPr lang="en-US" sz="6600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 Book I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1538BA-C752-527F-514A-3074EFAC5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99331"/>
            <a:ext cx="8284801" cy="4740501"/>
          </a:xfrm>
          <a:prstGeom prst="rect">
            <a:avLst/>
          </a:prstGeom>
        </p:spPr>
      </p:pic>
      <p:sp>
        <p:nvSpPr>
          <p:cNvPr id="13" name="TextBox 17">
            <a:extLst>
              <a:ext uri="{FF2B5EF4-FFF2-40B4-BE49-F238E27FC236}">
                <a16:creationId xmlns:a16="http://schemas.microsoft.com/office/drawing/2014/main" id="{D23B6E6A-5CDB-44B9-8C08-9857DF3E85D1}"/>
              </a:ext>
            </a:extLst>
          </p:cNvPr>
          <p:cNvSpPr txBox="1"/>
          <p:nvPr/>
        </p:nvSpPr>
        <p:spPr>
          <a:xfrm>
            <a:off x="9313715" y="3685264"/>
            <a:ext cx="7392916" cy="1016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059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595249"/>
                </a:solidFill>
                <a:latin typeface="Times New Roman" panose="02020603050405020304" pitchFamily="18" charset="0"/>
                <a:ea typeface="Times New Roman 2"/>
                <a:cs typeface="Times New Roman" panose="02020603050405020304" pitchFamily="18" charset="0"/>
                <a:sym typeface="Times New Roman 2"/>
              </a:rPr>
              <a:t>1–5 Proem: the author, the contents, and the aims of the work</a:t>
            </a: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AF45153F-C672-FC1F-0064-984E8F3DDA18}"/>
              </a:ext>
            </a:extLst>
          </p:cNvPr>
          <p:cNvSpPr txBox="1"/>
          <p:nvPr/>
        </p:nvSpPr>
        <p:spPr>
          <a:xfrm>
            <a:off x="9315231" y="5448300"/>
            <a:ext cx="7392916" cy="490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059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595249"/>
                </a:solidFill>
                <a:latin typeface="Times New Roman" panose="02020603050405020304" pitchFamily="18" charset="0"/>
                <a:ea typeface="Times New Roman 2"/>
                <a:cs typeface="Times New Roman" panose="02020603050405020304" pitchFamily="18" charset="0"/>
                <a:sym typeface="Times New Roman 2"/>
              </a:rPr>
              <a:t>6–94 The Lydian </a:t>
            </a:r>
            <a:r>
              <a:rPr lang="en-US" sz="3200" i="1" u="none" strike="noStrike" dirty="0">
                <a:solidFill>
                  <a:srgbClr val="595249"/>
                </a:solidFill>
                <a:latin typeface="Times New Roman" panose="02020603050405020304" pitchFamily="18" charset="0"/>
                <a:ea typeface="Times New Roman 2"/>
                <a:cs typeface="Times New Roman" panose="02020603050405020304" pitchFamily="18" charset="0"/>
                <a:sym typeface="Times New Roman 2"/>
              </a:rPr>
              <a:t>logos</a:t>
            </a:r>
            <a:r>
              <a:rPr lang="en-US" sz="3200" u="none" strike="noStrike" dirty="0">
                <a:solidFill>
                  <a:srgbClr val="595249"/>
                </a:solidFill>
                <a:latin typeface="Times New Roman" panose="02020603050405020304" pitchFamily="18" charset="0"/>
                <a:ea typeface="Times New Roman 2"/>
                <a:cs typeface="Times New Roman" panose="02020603050405020304" pitchFamily="18" charset="0"/>
                <a:sym typeface="Times New Roman 2"/>
              </a:rPr>
              <a:t>, especially Croesus</a:t>
            </a: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BF2A35FB-361B-3A9E-2B37-CC9A22D96CCC}"/>
              </a:ext>
            </a:extLst>
          </p:cNvPr>
          <p:cNvSpPr txBox="1"/>
          <p:nvPr/>
        </p:nvSpPr>
        <p:spPr>
          <a:xfrm>
            <a:off x="9322373" y="6762068"/>
            <a:ext cx="7384258" cy="1016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3200" dirty="0">
                <a:solidFill>
                  <a:srgbClr val="595249"/>
                </a:solidFill>
                <a:latin typeface="Times New Roman" panose="02020603050405020304" pitchFamily="18" charset="0"/>
                <a:ea typeface="Times New Roman 2"/>
                <a:cs typeface="Times New Roman" panose="02020603050405020304" pitchFamily="18" charset="0"/>
                <a:sym typeface="Times New Roman 2"/>
              </a:rPr>
              <a:t>95–216 The </a:t>
            </a:r>
            <a:r>
              <a:rPr lang="en-US" sz="3200" i="1" dirty="0">
                <a:solidFill>
                  <a:srgbClr val="595249"/>
                </a:solidFill>
                <a:latin typeface="Times New Roman" panose="02020603050405020304" pitchFamily="18" charset="0"/>
                <a:ea typeface="Times New Roman 2"/>
                <a:cs typeface="Times New Roman" panose="02020603050405020304" pitchFamily="18" charset="0"/>
                <a:sym typeface="Times New Roman 2"/>
              </a:rPr>
              <a:t>logos</a:t>
            </a:r>
            <a:r>
              <a:rPr lang="en-US" sz="3200" dirty="0">
                <a:solidFill>
                  <a:srgbClr val="595249"/>
                </a:solidFill>
                <a:latin typeface="Times New Roman" panose="02020603050405020304" pitchFamily="18" charset="0"/>
                <a:ea typeface="Times New Roman 2"/>
                <a:cs typeface="Times New Roman" panose="02020603050405020304" pitchFamily="18" charset="0"/>
                <a:sym typeface="Times New Roman 2"/>
              </a:rPr>
              <a:t> of Cyrus (</a:t>
            </a:r>
            <a:r>
              <a:rPr lang="en-US" sz="3200" b="1" dirty="0">
                <a:solidFill>
                  <a:srgbClr val="595249"/>
                </a:solidFill>
                <a:latin typeface="Times New Roman" panose="02020603050405020304" pitchFamily="18" charset="0"/>
                <a:ea typeface="Times New Roman 2"/>
                <a:cs typeface="Times New Roman" panose="02020603050405020304" pitchFamily="18" charset="0"/>
                <a:sym typeface="Times New Roman 2"/>
              </a:rPr>
              <a:t>the invasion of the land of the Massagetae</a:t>
            </a:r>
            <a:r>
              <a:rPr lang="en-US" sz="3200" dirty="0">
                <a:solidFill>
                  <a:srgbClr val="595249"/>
                </a:solidFill>
                <a:latin typeface="Times New Roman" panose="02020603050405020304" pitchFamily="18" charset="0"/>
                <a:ea typeface="Times New Roman 2"/>
                <a:cs typeface="Times New Roman" panose="02020603050405020304" pitchFamily="18" charset="0"/>
                <a:sym typeface="Times New Roman 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2682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/>
      <p:bldP spid="24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2019960"/>
            <a:ext cx="18288000" cy="796377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1EEE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09021" y="2932811"/>
            <a:ext cx="11031073" cy="5841456"/>
            <a:chOff x="0" y="0"/>
            <a:chExt cx="2613987" cy="13842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13987" cy="1384225"/>
            </a:xfrm>
            <a:custGeom>
              <a:avLst/>
              <a:gdLst/>
              <a:ahLst/>
              <a:cxnLst/>
              <a:rect l="l" t="t" r="r" b="b"/>
              <a:pathLst>
                <a:path w="2613987" h="1384225">
                  <a:moveTo>
                    <a:pt x="4913" y="0"/>
                  </a:moveTo>
                  <a:lnTo>
                    <a:pt x="2609074" y="0"/>
                  </a:lnTo>
                  <a:cubicBezTo>
                    <a:pt x="2610377" y="0"/>
                    <a:pt x="2611627" y="518"/>
                    <a:pt x="2612548" y="1439"/>
                  </a:cubicBezTo>
                  <a:cubicBezTo>
                    <a:pt x="2613470" y="2360"/>
                    <a:pt x="2613987" y="3610"/>
                    <a:pt x="2613987" y="4913"/>
                  </a:cubicBezTo>
                  <a:lnTo>
                    <a:pt x="2613987" y="1379313"/>
                  </a:lnTo>
                  <a:cubicBezTo>
                    <a:pt x="2613987" y="1380616"/>
                    <a:pt x="2613470" y="1381865"/>
                    <a:pt x="2612548" y="1382786"/>
                  </a:cubicBezTo>
                  <a:cubicBezTo>
                    <a:pt x="2611627" y="1383708"/>
                    <a:pt x="2610377" y="1384225"/>
                    <a:pt x="2609074" y="1384225"/>
                  </a:cubicBezTo>
                  <a:lnTo>
                    <a:pt x="4913" y="1384225"/>
                  </a:lnTo>
                  <a:cubicBezTo>
                    <a:pt x="2200" y="1384225"/>
                    <a:pt x="0" y="1382026"/>
                    <a:pt x="0" y="1379313"/>
                  </a:cubicBezTo>
                  <a:lnTo>
                    <a:pt x="0" y="4913"/>
                  </a:lnTo>
                  <a:cubicBezTo>
                    <a:pt x="0" y="2200"/>
                    <a:pt x="2200" y="0"/>
                    <a:pt x="4913" y="0"/>
                  </a:cubicBezTo>
                  <a:close/>
                </a:path>
              </a:pathLst>
            </a:custGeom>
            <a:solidFill>
              <a:srgbClr val="F9F8F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613987" cy="14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7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029200" y="774465"/>
            <a:ext cx="599092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48"/>
              </a:lnSpc>
            </a:pPr>
            <a:r>
              <a:rPr lang="en-US" sz="6600" i="1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Histories</a:t>
            </a:r>
            <a:r>
              <a:rPr lang="en-US" sz="6600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 Book II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28700" y="2019963"/>
            <a:ext cx="5680321" cy="7963807"/>
            <a:chOff x="0" y="0"/>
            <a:chExt cx="7856728" cy="110151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856728" cy="11015091"/>
            </a:xfrm>
            <a:custGeom>
              <a:avLst/>
              <a:gdLst/>
              <a:ahLst/>
              <a:cxnLst/>
              <a:rect l="l" t="t" r="r" b="b"/>
              <a:pathLst>
                <a:path w="7856728" h="11015091">
                  <a:moveTo>
                    <a:pt x="0" y="0"/>
                  </a:moveTo>
                  <a:lnTo>
                    <a:pt x="7856728" y="0"/>
                  </a:lnTo>
                  <a:lnTo>
                    <a:pt x="7856728" y="11015091"/>
                  </a:lnTo>
                  <a:lnTo>
                    <a:pt x="0" y="11015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8861179" y="6918276"/>
            <a:ext cx="8108706" cy="1260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967"/>
              </a:lnSpc>
            </a:pPr>
            <a:r>
              <a:rPr lang="en-US" sz="3600" dirty="0">
                <a:solidFill>
                  <a:srgbClr val="33281E"/>
                </a:solidFill>
                <a:latin typeface="Times New Roman 1"/>
                <a:ea typeface="Times New Roman 1"/>
                <a:cs typeface="Times New Roman 1"/>
                <a:sym typeface="Times New Roman 1"/>
              </a:rPr>
              <a:t>99–182 </a:t>
            </a:r>
            <a:r>
              <a:rPr lang="en-US" sz="3600" dirty="0">
                <a:solidFill>
                  <a:srgbClr val="33281E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The history of Egypt from Min to Amasis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21121" y="3548052"/>
            <a:ext cx="6502330" cy="589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7"/>
              </a:lnSpc>
            </a:pPr>
            <a:r>
              <a:rPr lang="en-US" sz="3600" dirty="0">
                <a:solidFill>
                  <a:srgbClr val="33281E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 Cambyses’  Invasion of Egypt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21121" y="4461606"/>
            <a:ext cx="8948766" cy="589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967"/>
              </a:lnSpc>
            </a:pPr>
            <a:r>
              <a:rPr lang="en-US" sz="3600" dirty="0">
                <a:solidFill>
                  <a:srgbClr val="33281E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2–216 </a:t>
            </a:r>
            <a:r>
              <a:rPr lang="en-US" sz="3600" b="1" dirty="0">
                <a:solidFill>
                  <a:srgbClr val="33281E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Egypt</a:t>
            </a:r>
            <a:r>
              <a:rPr lang="en-US" sz="3600" dirty="0">
                <a:solidFill>
                  <a:srgbClr val="33281E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: Geography, People, and History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61179" y="5287484"/>
            <a:ext cx="8108708" cy="589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67"/>
              </a:lnSpc>
            </a:pPr>
            <a:r>
              <a:rPr lang="en-US" sz="3600" dirty="0">
                <a:solidFill>
                  <a:srgbClr val="33281E"/>
                </a:solidFill>
                <a:latin typeface="Times New Roman 1"/>
                <a:ea typeface="Times New Roman 1"/>
                <a:cs typeface="Times New Roman 1"/>
                <a:sym typeface="Times New Roman 1"/>
              </a:rPr>
              <a:t>5–34 The geography and geology of Egypt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61178" y="6110062"/>
            <a:ext cx="8108707" cy="589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967"/>
              </a:lnSpc>
            </a:pPr>
            <a:r>
              <a:rPr lang="en-US" sz="3600" dirty="0">
                <a:solidFill>
                  <a:srgbClr val="33281E"/>
                </a:solidFill>
                <a:latin typeface="Times New Roman 1"/>
                <a:ea typeface="Times New Roman 1"/>
                <a:cs typeface="Times New Roman 1"/>
                <a:sym typeface="Times New Roman 1"/>
              </a:rPr>
              <a:t>35–98 Egyptian manners and customs</a:t>
            </a: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2FEB88B9-780C-C7F7-8DAA-D9B47E96A5CA}"/>
              </a:ext>
            </a:extLst>
          </p:cNvPr>
          <p:cNvSpPr txBox="1"/>
          <p:nvPr/>
        </p:nvSpPr>
        <p:spPr>
          <a:xfrm rot="10800000">
            <a:off x="0" y="2019964"/>
            <a:ext cx="18288000" cy="786165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2">
            <a:extLst>
              <a:ext uri="{FF2B5EF4-FFF2-40B4-BE49-F238E27FC236}">
                <a16:creationId xmlns:a16="http://schemas.microsoft.com/office/drawing/2014/main" id="{6A6FE39A-0893-C4BC-204E-6060E2B63C7C}"/>
              </a:ext>
            </a:extLst>
          </p:cNvPr>
          <p:cNvGrpSpPr/>
          <p:nvPr/>
        </p:nvGrpSpPr>
        <p:grpSpPr>
          <a:xfrm rot="-10800000">
            <a:off x="0" y="2019962"/>
            <a:ext cx="18288000" cy="8267037"/>
            <a:chOff x="0" y="-28575"/>
            <a:chExt cx="812800" cy="841375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77E167FF-BD3D-6737-F162-C939DE8745D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1EEE6"/>
            </a:solidFill>
          </p:spPr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8834180D-B29E-814E-6884-D64A05349C33}"/>
                </a:ext>
              </a:extLst>
            </p:cNvPr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581400" y="771319"/>
            <a:ext cx="10334106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48"/>
              </a:lnSpc>
            </a:pPr>
            <a:r>
              <a:rPr lang="en-US" sz="6600" i="1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Histories</a:t>
            </a:r>
            <a:r>
              <a:rPr lang="en-US" sz="6600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 Book III</a:t>
            </a:r>
          </a:p>
          <a:p>
            <a:pPr algn="ctr">
              <a:lnSpc>
                <a:spcPts val="7048"/>
              </a:lnSpc>
            </a:pPr>
            <a:endParaRPr lang="en-US" sz="6600" dirty="0">
              <a:solidFill>
                <a:srgbClr val="3A3B3C"/>
              </a:solidFill>
              <a:latin typeface="Times New Roman 1"/>
              <a:ea typeface="Times New Roman 1"/>
              <a:cs typeface="Times New Roman 1"/>
              <a:sym typeface="Times New Roman 1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16180" y="3080959"/>
            <a:ext cx="8442220" cy="1124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92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1–38  The reign of Cambyses and the Persian conquest of Egypt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896600" y="2019963"/>
            <a:ext cx="6124403" cy="7986270"/>
            <a:chOff x="0" y="0"/>
            <a:chExt cx="8893188" cy="1148999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93175" cy="11489944"/>
            </a:xfrm>
            <a:custGeom>
              <a:avLst/>
              <a:gdLst/>
              <a:ahLst/>
              <a:cxnLst/>
              <a:rect l="l" t="t" r="r" b="b"/>
              <a:pathLst>
                <a:path w="8893175" h="11489944">
                  <a:moveTo>
                    <a:pt x="0" y="0"/>
                  </a:moveTo>
                  <a:lnTo>
                    <a:pt x="8893175" y="0"/>
                  </a:lnTo>
                  <a:lnTo>
                    <a:pt x="8893175" y="11489944"/>
                  </a:lnTo>
                  <a:lnTo>
                    <a:pt x="0" y="11489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601102" y="4510723"/>
            <a:ext cx="8028492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39–60  The first Samian </a:t>
            </a:r>
            <a:r>
              <a:rPr lang="en-US" sz="3600" i="1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logos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23923" y="5455694"/>
            <a:ext cx="8028492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61–88  The revolt of the Magi and </a:t>
            </a:r>
            <a:r>
              <a:rPr lang="en-US" sz="3600" b="1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Darius’ accession to the throne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1102" y="6858821"/>
            <a:ext cx="8028492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89–117  The Persian Empire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01102" y="7802896"/>
            <a:ext cx="8028492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118–160  The first years of Darius’ reign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2019963"/>
            <a:ext cx="18288000" cy="8267036"/>
            <a:chOff x="0" y="-28575"/>
            <a:chExt cx="812800" cy="8413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1EEE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2723292"/>
            <a:ext cx="7604322" cy="6092963"/>
          </a:xfrm>
          <a:custGeom>
            <a:avLst/>
            <a:gdLst/>
            <a:ahLst/>
            <a:cxnLst/>
            <a:rect l="l" t="t" r="r" b="b"/>
            <a:pathLst>
              <a:path w="7604322" h="6092963">
                <a:moveTo>
                  <a:pt x="0" y="0"/>
                </a:moveTo>
                <a:lnTo>
                  <a:pt x="7604322" y="0"/>
                </a:lnTo>
                <a:lnTo>
                  <a:pt x="7604322" y="6092962"/>
                </a:lnTo>
                <a:lnTo>
                  <a:pt x="0" y="6092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886197" y="736969"/>
            <a:ext cx="6515606" cy="1834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8"/>
              </a:lnSpc>
            </a:pPr>
            <a:r>
              <a:rPr lang="en-US" sz="6600" i="1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Histories</a:t>
            </a:r>
            <a:r>
              <a:rPr lang="en-US" sz="6600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 Book IV</a:t>
            </a:r>
          </a:p>
          <a:p>
            <a:pPr algn="ctr">
              <a:lnSpc>
                <a:spcPts val="7048"/>
              </a:lnSpc>
            </a:pPr>
            <a:endParaRPr lang="en-US" sz="6600" dirty="0">
              <a:solidFill>
                <a:srgbClr val="3A3B3C"/>
              </a:solidFill>
              <a:latin typeface="Times New Roman 1"/>
              <a:ea typeface="Times New Roman 1"/>
              <a:cs typeface="Times New Roman 1"/>
              <a:sym typeface="Times New Roman 1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144000" y="3775385"/>
            <a:ext cx="8346244" cy="1107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1–144 </a:t>
            </a:r>
            <a:r>
              <a:rPr lang="en-US" sz="3600" b="1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Darius’ Scythian expedition</a:t>
            </a:r>
          </a:p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  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63199" y="4514648"/>
            <a:ext cx="6337719" cy="564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46–82 Scythian customs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0" y="5969365"/>
            <a:ext cx="8084002" cy="1107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145–205  The Persian expedition to Libya</a:t>
            </a:r>
          </a:p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 1"/>
                <a:ea typeface="Times New Roman 1"/>
                <a:cs typeface="Times New Roman 1"/>
                <a:sym typeface="Times New Roman 1"/>
              </a:rPr>
              <a:t> 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63199" y="6777870"/>
            <a:ext cx="7010401" cy="1107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145–167  The foundation of Thera and Cyrene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3">
            <a:extLst>
              <a:ext uri="{FF2B5EF4-FFF2-40B4-BE49-F238E27FC236}">
                <a16:creationId xmlns:a16="http://schemas.microsoft.com/office/drawing/2014/main" id="{31EBEDE5-7660-68AE-F544-78EB3BC25B24}"/>
              </a:ext>
            </a:extLst>
          </p:cNvPr>
          <p:cNvSpPr/>
          <p:nvPr/>
        </p:nvSpPr>
        <p:spPr>
          <a:xfrm rot="10800000">
            <a:off x="0" y="2019963"/>
            <a:ext cx="18288000" cy="798626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solidFill>
            <a:srgbClr val="F1EEE6"/>
          </a:solidFill>
        </p:spPr>
      </p:sp>
      <p:sp>
        <p:nvSpPr>
          <p:cNvPr id="5" name="Freeform 5"/>
          <p:cNvSpPr/>
          <p:nvPr/>
        </p:nvSpPr>
        <p:spPr>
          <a:xfrm>
            <a:off x="12344400" y="2019963"/>
            <a:ext cx="5010922" cy="7986270"/>
          </a:xfrm>
          <a:custGeom>
            <a:avLst/>
            <a:gdLst/>
            <a:ahLst/>
            <a:cxnLst/>
            <a:rect l="l" t="t" r="r" b="b"/>
            <a:pathLst>
              <a:path w="3996937" h="6356958">
                <a:moveTo>
                  <a:pt x="0" y="0"/>
                </a:moveTo>
                <a:lnTo>
                  <a:pt x="3996938" y="0"/>
                </a:lnTo>
                <a:lnTo>
                  <a:pt x="399693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372489" y="782412"/>
            <a:ext cx="9543012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8"/>
              </a:lnSpc>
            </a:pPr>
            <a:r>
              <a:rPr lang="en-US" sz="6600" i="1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Histories</a:t>
            </a:r>
            <a:r>
              <a:rPr lang="en-US" sz="6600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 Book V</a:t>
            </a:r>
          </a:p>
          <a:p>
            <a:pPr algn="ctr">
              <a:lnSpc>
                <a:spcPts val="7048"/>
              </a:lnSpc>
            </a:pPr>
            <a:endParaRPr lang="en-US" sz="6600" dirty="0">
              <a:solidFill>
                <a:srgbClr val="3A3B3C"/>
              </a:solidFill>
              <a:latin typeface="Times New Roman 1"/>
              <a:ea typeface="Times New Roman 1"/>
              <a:cs typeface="Times New Roman 1"/>
              <a:sym typeface="Times New Roman 1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057400" y="3133683"/>
            <a:ext cx="10000478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1–22  The campaign of </a:t>
            </a:r>
            <a:r>
              <a:rPr lang="en-US" sz="3600" dirty="0" err="1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Megabazus</a:t>
            </a: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 against  Thrace and Macedonia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45199" y="4655759"/>
            <a:ext cx="8957986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23–38  The beginning of the Ionian Revolt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63496" y="5623842"/>
            <a:ext cx="8957986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39–54 </a:t>
            </a:r>
            <a:r>
              <a:rPr lang="en-US" sz="3600" b="1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Aristagoras seeks help in Sparta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63496" y="6612823"/>
            <a:ext cx="8957986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55–97  The alliance of the Ionians with Athens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3496" y="7601804"/>
            <a:ext cx="8957986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98–126  The Ionian Revolt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2FE1BB1-75CF-C3E7-0BBE-C6094DE01208}"/>
              </a:ext>
            </a:extLst>
          </p:cNvPr>
          <p:cNvSpPr/>
          <p:nvPr/>
        </p:nvSpPr>
        <p:spPr>
          <a:xfrm rot="10800000">
            <a:off x="0" y="2019963"/>
            <a:ext cx="18288000" cy="798626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solidFill>
            <a:srgbClr val="F1EEE6"/>
          </a:solidFill>
        </p:spPr>
      </p:sp>
      <p:sp>
        <p:nvSpPr>
          <p:cNvPr id="8" name="TextBox 8"/>
          <p:cNvSpPr txBox="1"/>
          <p:nvPr/>
        </p:nvSpPr>
        <p:spPr>
          <a:xfrm>
            <a:off x="4372489" y="782412"/>
            <a:ext cx="9543012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8"/>
              </a:lnSpc>
            </a:pPr>
            <a:r>
              <a:rPr lang="en-US" sz="6600" i="1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Histories</a:t>
            </a:r>
            <a:r>
              <a:rPr lang="en-US" sz="6600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 Book VI</a:t>
            </a:r>
          </a:p>
          <a:p>
            <a:pPr algn="ctr">
              <a:lnSpc>
                <a:spcPts val="7048"/>
              </a:lnSpc>
            </a:pPr>
            <a:endParaRPr lang="en-US" sz="6600" dirty="0">
              <a:solidFill>
                <a:srgbClr val="3A3B3C"/>
              </a:solidFill>
              <a:latin typeface="Times New Roman 1"/>
              <a:ea typeface="Times New Roman 1"/>
              <a:cs typeface="Times New Roman 1"/>
              <a:sym typeface="Times New Roman 1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206280" y="3167849"/>
            <a:ext cx="8399898" cy="5400017"/>
          </a:xfrm>
          <a:custGeom>
            <a:avLst/>
            <a:gdLst/>
            <a:ahLst/>
            <a:cxnLst/>
            <a:rect l="l" t="t" r="r" b="b"/>
            <a:pathLst>
              <a:path w="11158855" h="7245858">
                <a:moveTo>
                  <a:pt x="0" y="0"/>
                </a:moveTo>
                <a:lnTo>
                  <a:pt x="11158855" y="0"/>
                </a:lnTo>
                <a:lnTo>
                  <a:pt x="11158855" y="7245858"/>
                </a:lnTo>
                <a:lnTo>
                  <a:pt x="0" y="7245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125460" y="3560961"/>
            <a:ext cx="8399898" cy="510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2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1–42  The suppression of the Ionian Revolt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25460" y="4319722"/>
            <a:ext cx="8484941" cy="510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200" dirty="0">
                <a:solidFill>
                  <a:srgbClr val="534F44"/>
                </a:solidFill>
                <a:latin typeface="Times New Roman 1"/>
                <a:ea typeface="Times New Roman 1"/>
                <a:cs typeface="Times New Roman 1"/>
                <a:sym typeface="Times New Roman 1"/>
              </a:rPr>
              <a:t>43–45  The campaign of Mardonius against Greece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25460" y="4985910"/>
            <a:ext cx="8399898" cy="510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2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46–93  The political situation in Greece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25460" y="5683093"/>
            <a:ext cx="8399898" cy="496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2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94–120  The campaign of Datis and Artaphernes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25461" y="7725911"/>
            <a:ext cx="8399898" cy="496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2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132–140  The campaign of Miltiades against Paros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29815" y="6362541"/>
            <a:ext cx="6951986" cy="496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2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103–120 </a:t>
            </a:r>
            <a:r>
              <a:rPr lang="en-US" sz="3200" b="1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The Battle of Marathon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25460" y="7042544"/>
            <a:ext cx="8256341" cy="496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2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121–131  The Alcmaeonids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">
            <a:extLst>
              <a:ext uri="{FF2B5EF4-FFF2-40B4-BE49-F238E27FC236}">
                <a16:creationId xmlns:a16="http://schemas.microsoft.com/office/drawing/2014/main" id="{BDEEED0F-E72C-D124-C0F4-E398D870D258}"/>
              </a:ext>
            </a:extLst>
          </p:cNvPr>
          <p:cNvGrpSpPr/>
          <p:nvPr/>
        </p:nvGrpSpPr>
        <p:grpSpPr>
          <a:xfrm rot="-10800000">
            <a:off x="0" y="2019963"/>
            <a:ext cx="18288000" cy="8267036"/>
            <a:chOff x="0" y="-28575"/>
            <a:chExt cx="812800" cy="841375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01478509-4E54-E44C-20CC-D0A8E6FF89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1EEE6"/>
            </a:solidFill>
          </p:spPr>
        </p:sp>
        <p:sp>
          <p:nvSpPr>
            <p:cNvPr id="16" name="TextBox 4">
              <a:extLst>
                <a:ext uri="{FF2B5EF4-FFF2-40B4-BE49-F238E27FC236}">
                  <a16:creationId xmlns:a16="http://schemas.microsoft.com/office/drawing/2014/main" id="{66686D3C-3884-8005-FBA2-2FC22911193D}"/>
                </a:ext>
              </a:extLst>
            </p:cNvPr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372489" y="782412"/>
            <a:ext cx="9543012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8"/>
              </a:lnSpc>
            </a:pPr>
            <a:r>
              <a:rPr lang="en-US" sz="6600" i="1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Histories</a:t>
            </a:r>
            <a:r>
              <a:rPr lang="en-US" sz="6600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 Book VII</a:t>
            </a:r>
          </a:p>
          <a:p>
            <a:pPr algn="ctr">
              <a:lnSpc>
                <a:spcPts val="7048"/>
              </a:lnSpc>
            </a:pPr>
            <a:endParaRPr lang="en-US" sz="6600" dirty="0">
              <a:solidFill>
                <a:srgbClr val="3A3B3C"/>
              </a:solidFill>
              <a:latin typeface="Times New Roman 1"/>
              <a:ea typeface="Times New Roman 1"/>
              <a:cs typeface="Times New Roman 1"/>
              <a:sym typeface="Times New Roman 1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191000" y="2267523"/>
            <a:ext cx="10410274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39"/>
              </a:lnSpc>
            </a:pPr>
            <a:r>
              <a:rPr lang="en-US" sz="3199" dirty="0">
                <a:solidFill>
                  <a:srgbClr val="534F44"/>
                </a:solidFill>
                <a:latin typeface="Times New Roman" panose="02020603050405020304" pitchFamily="18" charset="0"/>
                <a:ea typeface="Times New Roman 2"/>
                <a:cs typeface="Times New Roman" panose="02020603050405020304" pitchFamily="18" charset="0"/>
                <a:sym typeface="Times New Roman 2"/>
              </a:rPr>
              <a:t>1–130 The Beginning of the Great Campaign against Greece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91000" y="3000444"/>
            <a:ext cx="10410274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39"/>
              </a:lnSpc>
            </a:pPr>
            <a:r>
              <a:rPr lang="en-US" sz="3199" dirty="0">
                <a:solidFill>
                  <a:srgbClr val="534F44"/>
                </a:solidFill>
                <a:latin typeface="Times New Roman" panose="02020603050405020304" pitchFamily="18" charset="0"/>
                <a:ea typeface="Times New Roman 2"/>
                <a:cs typeface="Times New Roman" panose="02020603050405020304" pitchFamily="18" charset="0"/>
                <a:sym typeface="Times New Roman 2"/>
              </a:rPr>
              <a:t>131–178 The Mobilization of the Hellenes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91001" y="3687948"/>
            <a:ext cx="10410274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39"/>
              </a:lnSpc>
            </a:pPr>
            <a:r>
              <a:rPr lang="en-US" sz="3199" dirty="0">
                <a:solidFill>
                  <a:srgbClr val="534F44"/>
                </a:solidFill>
                <a:latin typeface="Times New Roman" panose="02020603050405020304" pitchFamily="18" charset="0"/>
                <a:ea typeface="Times New Roman 2"/>
                <a:cs typeface="Times New Roman" panose="02020603050405020304" pitchFamily="18" charset="0"/>
                <a:sym typeface="Times New Roman 2"/>
              </a:rPr>
              <a:t>179–239 Xerxes’ Campaign up to the Battle of Thermopylae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422747" y="4375452"/>
            <a:ext cx="7654039" cy="5644848"/>
            <a:chOff x="0" y="0"/>
            <a:chExt cx="11717160" cy="86413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717147" cy="8641461"/>
            </a:xfrm>
            <a:custGeom>
              <a:avLst/>
              <a:gdLst/>
              <a:ahLst/>
              <a:cxnLst/>
              <a:rect l="l" t="t" r="r" b="b"/>
              <a:pathLst>
                <a:path w="11717147" h="8641461">
                  <a:moveTo>
                    <a:pt x="0" y="0"/>
                  </a:moveTo>
                  <a:lnTo>
                    <a:pt x="11717147" y="0"/>
                  </a:lnTo>
                  <a:lnTo>
                    <a:pt x="11717147" y="8641461"/>
                  </a:lnTo>
                  <a:lnTo>
                    <a:pt x="0" y="8641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2">
            <a:extLst>
              <a:ext uri="{FF2B5EF4-FFF2-40B4-BE49-F238E27FC236}">
                <a16:creationId xmlns:a16="http://schemas.microsoft.com/office/drawing/2014/main" id="{2D986E55-2039-42F8-9B25-566A88673695}"/>
              </a:ext>
            </a:extLst>
          </p:cNvPr>
          <p:cNvGrpSpPr/>
          <p:nvPr/>
        </p:nvGrpSpPr>
        <p:grpSpPr>
          <a:xfrm rot="-10800000">
            <a:off x="0" y="2019963"/>
            <a:ext cx="18288000" cy="8267036"/>
            <a:chOff x="0" y="-28575"/>
            <a:chExt cx="812800" cy="841375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B874B581-9718-F7F7-C969-5095670031B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1EEE6"/>
            </a:solidFill>
          </p:spPr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0AB1A3EC-BC85-D8DA-ED03-FB8401253496}"/>
                </a:ext>
              </a:extLst>
            </p:cNvPr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19" name="Group 11">
            <a:extLst>
              <a:ext uri="{FF2B5EF4-FFF2-40B4-BE49-F238E27FC236}">
                <a16:creationId xmlns:a16="http://schemas.microsoft.com/office/drawing/2014/main" id="{3ADCE7C0-93C1-7ED9-796F-0217B3C46A48}"/>
              </a:ext>
            </a:extLst>
          </p:cNvPr>
          <p:cNvGrpSpPr/>
          <p:nvPr/>
        </p:nvGrpSpPr>
        <p:grpSpPr>
          <a:xfrm>
            <a:off x="1066800" y="2731383"/>
            <a:ext cx="10868521" cy="5917317"/>
            <a:chOff x="0" y="0"/>
            <a:chExt cx="2343135" cy="1203675"/>
          </a:xfrm>
        </p:grpSpPr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E40B1AA-E302-C202-5A84-88CE6A20104F}"/>
                </a:ext>
              </a:extLst>
            </p:cNvPr>
            <p:cNvSpPr/>
            <p:nvPr/>
          </p:nvSpPr>
          <p:spPr>
            <a:xfrm>
              <a:off x="0" y="0"/>
              <a:ext cx="2343135" cy="1203675"/>
            </a:xfrm>
            <a:custGeom>
              <a:avLst/>
              <a:gdLst/>
              <a:ahLst/>
              <a:cxnLst/>
              <a:rect l="l" t="t" r="r" b="b"/>
              <a:pathLst>
                <a:path w="2343135" h="1203675">
                  <a:moveTo>
                    <a:pt x="5481" y="0"/>
                  </a:moveTo>
                  <a:lnTo>
                    <a:pt x="2337655" y="0"/>
                  </a:lnTo>
                  <a:cubicBezTo>
                    <a:pt x="2340682" y="0"/>
                    <a:pt x="2343135" y="2454"/>
                    <a:pt x="2343135" y="5481"/>
                  </a:cubicBezTo>
                  <a:lnTo>
                    <a:pt x="2343135" y="1198194"/>
                  </a:lnTo>
                  <a:cubicBezTo>
                    <a:pt x="2343135" y="1201221"/>
                    <a:pt x="2340682" y="1203675"/>
                    <a:pt x="2337655" y="1203675"/>
                  </a:cubicBezTo>
                  <a:lnTo>
                    <a:pt x="5481" y="1203675"/>
                  </a:lnTo>
                  <a:cubicBezTo>
                    <a:pt x="2454" y="1203675"/>
                    <a:pt x="0" y="1201221"/>
                    <a:pt x="0" y="1198194"/>
                  </a:cubicBezTo>
                  <a:lnTo>
                    <a:pt x="0" y="5481"/>
                  </a:lnTo>
                  <a:cubicBezTo>
                    <a:pt x="0" y="2454"/>
                    <a:pt x="2454" y="0"/>
                    <a:pt x="5481" y="0"/>
                  </a:cubicBezTo>
                  <a:close/>
                </a:path>
              </a:pathLst>
            </a:custGeom>
            <a:solidFill>
              <a:srgbClr val="F9F8F6"/>
            </a:solidFill>
          </p:spPr>
        </p:sp>
        <p:sp>
          <p:nvSpPr>
            <p:cNvPr id="21" name="TextBox 13">
              <a:extLst>
                <a:ext uri="{FF2B5EF4-FFF2-40B4-BE49-F238E27FC236}">
                  <a16:creationId xmlns:a16="http://schemas.microsoft.com/office/drawing/2014/main" id="{FACC7377-D757-1C33-A1A9-C285B02B4A66}"/>
                </a:ext>
              </a:extLst>
            </p:cNvPr>
            <p:cNvSpPr txBox="1"/>
            <p:nvPr/>
          </p:nvSpPr>
          <p:spPr>
            <a:xfrm>
              <a:off x="0" y="-47625"/>
              <a:ext cx="2343135" cy="125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372489" y="782412"/>
            <a:ext cx="9543012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8"/>
              </a:lnSpc>
            </a:pPr>
            <a:r>
              <a:rPr lang="en-US" sz="6600" i="1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Histories</a:t>
            </a:r>
            <a:r>
              <a:rPr lang="en-US" sz="6600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 Book VIII</a:t>
            </a:r>
          </a:p>
          <a:p>
            <a:pPr algn="ctr">
              <a:lnSpc>
                <a:spcPts val="7048"/>
              </a:lnSpc>
            </a:pPr>
            <a:endParaRPr lang="en-US" sz="6600" dirty="0">
              <a:solidFill>
                <a:srgbClr val="3A3B3C"/>
              </a:solidFill>
              <a:latin typeface="Times New Roman 1"/>
              <a:ea typeface="Times New Roman 1"/>
              <a:cs typeface="Times New Roman 1"/>
              <a:sym typeface="Times New Roman 1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03842" y="6330604"/>
            <a:ext cx="8964082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130–144 Preparations for the campaign of Mardonius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3842" y="3381689"/>
            <a:ext cx="10231479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1–129  The end of the great campaign against Greece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33157" y="4074185"/>
            <a:ext cx="6505470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1–18  The Battle of  </a:t>
            </a:r>
            <a:r>
              <a:rPr lang="en-US" sz="3600" dirty="0" err="1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Artemisium</a:t>
            </a:r>
            <a:endParaRPr lang="en-US" sz="3600" dirty="0">
              <a:solidFill>
                <a:srgbClr val="534F44"/>
              </a:solidFill>
              <a:latin typeface="Times New Roman" panose="02020603050405020304" pitchFamily="18" charset="0"/>
              <a:ea typeface="Times New Roman 1"/>
              <a:cs typeface="Times New Roman" panose="02020603050405020304" pitchFamily="18" charset="0"/>
              <a:sym typeface="Times New Roman 1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933157" y="4744650"/>
            <a:ext cx="8963530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83–96  </a:t>
            </a:r>
            <a:r>
              <a:rPr lang="en-US" sz="3600" b="1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The Battle of Salamis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33157" y="5437146"/>
            <a:ext cx="4960620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113–120 Xerxes’  retreat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940915" y="5307678"/>
            <a:ext cx="8347085" cy="4712622"/>
            <a:chOff x="0" y="0"/>
            <a:chExt cx="10993907" cy="62069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93882" cy="6206998"/>
            </a:xfrm>
            <a:custGeom>
              <a:avLst/>
              <a:gdLst/>
              <a:ahLst/>
              <a:cxnLst/>
              <a:rect l="l" t="t" r="r" b="b"/>
              <a:pathLst>
                <a:path w="10993882" h="6206998">
                  <a:moveTo>
                    <a:pt x="0" y="0"/>
                  </a:moveTo>
                  <a:lnTo>
                    <a:pt x="10993882" y="0"/>
                  </a:lnTo>
                  <a:lnTo>
                    <a:pt x="10993882" y="6206998"/>
                  </a:lnTo>
                  <a:lnTo>
                    <a:pt x="0" y="6206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>
            <a:extLst>
              <a:ext uri="{FF2B5EF4-FFF2-40B4-BE49-F238E27FC236}">
                <a16:creationId xmlns:a16="http://schemas.microsoft.com/office/drawing/2014/main" id="{840C9216-D243-600B-E44F-964598A14E07}"/>
              </a:ext>
            </a:extLst>
          </p:cNvPr>
          <p:cNvGrpSpPr/>
          <p:nvPr/>
        </p:nvGrpSpPr>
        <p:grpSpPr>
          <a:xfrm rot="-10800000">
            <a:off x="0" y="2019962"/>
            <a:ext cx="18288000" cy="8302943"/>
            <a:chOff x="0" y="-28575"/>
            <a:chExt cx="812800" cy="841375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552435A9-1C36-853A-D86E-7F3AF23953C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1EEE6"/>
            </a:solidFill>
          </p:spPr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248504CA-62E6-42D1-4932-D90315DB617B}"/>
                </a:ext>
              </a:extLst>
            </p:cNvPr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372489" y="782412"/>
            <a:ext cx="9543012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8"/>
              </a:lnSpc>
            </a:pPr>
            <a:r>
              <a:rPr lang="en-US" sz="6600" i="1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Histories</a:t>
            </a:r>
            <a:r>
              <a:rPr lang="en-US" sz="6600" dirty="0">
                <a:solidFill>
                  <a:srgbClr val="3A3B3C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 Book IX</a:t>
            </a:r>
          </a:p>
          <a:p>
            <a:pPr algn="ctr">
              <a:lnSpc>
                <a:spcPts val="7048"/>
              </a:lnSpc>
            </a:pPr>
            <a:endParaRPr lang="en-US" sz="6600" dirty="0">
              <a:solidFill>
                <a:srgbClr val="3A3B3C"/>
              </a:solidFill>
              <a:latin typeface="Times New Roman 1"/>
              <a:ea typeface="Times New Roman 1"/>
              <a:cs typeface="Times New Roman 1"/>
              <a:sym typeface="Times New Roman 1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24000" y="3470076"/>
            <a:ext cx="8964082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1–89  The campaign of Mardonius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24552" y="5622785"/>
            <a:ext cx="8963530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90–121  The destruction of the Persian fleet – the liberation of Ionia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91308" y="6901756"/>
            <a:ext cx="602902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3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99–105  The Battle of Mycale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4000" y="7666763"/>
            <a:ext cx="5334000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122  The Cyrus Anecdote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91308" y="4789830"/>
            <a:ext cx="571139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3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58–79 </a:t>
            </a:r>
            <a:r>
              <a:rPr lang="en-US" sz="3300" b="1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The Battle of Plataea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91308" y="4186175"/>
            <a:ext cx="950986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300" dirty="0">
                <a:solidFill>
                  <a:srgbClr val="534F44"/>
                </a:solidFill>
                <a:latin typeface="Times New Roman" panose="02020603050405020304" pitchFamily="18" charset="0"/>
                <a:ea typeface="Times New Roman 1"/>
                <a:cs typeface="Times New Roman" panose="02020603050405020304" pitchFamily="18" charset="0"/>
                <a:sym typeface="Times New Roman 1"/>
              </a:rPr>
              <a:t>1–19  The invasion of Attica and the retreat to Boeotia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8FD2AD-E7E5-E002-6A24-003706FAC1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5484" y="2020000"/>
            <a:ext cx="6332516" cy="80209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4102942"/>
            <a:ext cx="18288000" cy="5419413"/>
            <a:chOff x="0" y="0"/>
            <a:chExt cx="822201" cy="3231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2201" cy="323109"/>
            </a:xfrm>
            <a:custGeom>
              <a:avLst/>
              <a:gdLst/>
              <a:ahLst/>
              <a:cxnLst/>
              <a:rect l="l" t="t" r="r" b="b"/>
              <a:pathLst>
                <a:path w="822201" h="323109">
                  <a:moveTo>
                    <a:pt x="0" y="50800"/>
                  </a:moveTo>
                  <a:lnTo>
                    <a:pt x="411101" y="0"/>
                  </a:lnTo>
                  <a:lnTo>
                    <a:pt x="822201" y="50800"/>
                  </a:lnTo>
                  <a:lnTo>
                    <a:pt x="822201" y="272309"/>
                  </a:lnTo>
                  <a:lnTo>
                    <a:pt x="411101" y="323109"/>
                  </a:lnTo>
                  <a:lnTo>
                    <a:pt x="0" y="272309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>
                <a:alpha val="73725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175"/>
              <a:ext cx="822201" cy="300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0" y="4228146"/>
            <a:ext cx="18288000" cy="5705651"/>
            <a:chOff x="0" y="0"/>
            <a:chExt cx="822201" cy="443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2201" cy="443015"/>
            </a:xfrm>
            <a:custGeom>
              <a:avLst/>
              <a:gdLst/>
              <a:ahLst/>
              <a:cxnLst/>
              <a:rect l="l" t="t" r="r" b="b"/>
              <a:pathLst>
                <a:path w="822201" h="443015">
                  <a:moveTo>
                    <a:pt x="0" y="50800"/>
                  </a:moveTo>
                  <a:lnTo>
                    <a:pt x="411101" y="0"/>
                  </a:lnTo>
                  <a:lnTo>
                    <a:pt x="822201" y="50800"/>
                  </a:lnTo>
                  <a:lnTo>
                    <a:pt x="822201" y="392215"/>
                  </a:lnTo>
                  <a:lnTo>
                    <a:pt x="411101" y="443015"/>
                  </a:lnTo>
                  <a:lnTo>
                    <a:pt x="0" y="392215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CE6D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175"/>
              <a:ext cx="822201" cy="420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45848" y="2324779"/>
            <a:ext cx="15610478" cy="6199442"/>
            <a:chOff x="0" y="0"/>
            <a:chExt cx="3699129" cy="14688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Freeform 9"/>
            <p:cNvSpPr/>
            <p:nvPr/>
          </p:nvSpPr>
          <p:spPr>
            <a:xfrm>
              <a:off x="0" y="0"/>
              <a:ext cx="3699129" cy="1468882"/>
            </a:xfrm>
            <a:custGeom>
              <a:avLst/>
              <a:gdLst/>
              <a:ahLst/>
              <a:cxnLst/>
              <a:rect l="l" t="t" r="r" b="b"/>
              <a:pathLst>
                <a:path w="3699129" h="1468882">
                  <a:moveTo>
                    <a:pt x="3699129" y="6447"/>
                  </a:moveTo>
                  <a:lnTo>
                    <a:pt x="3699129" y="1462435"/>
                  </a:lnTo>
                  <a:cubicBezTo>
                    <a:pt x="3699129" y="1465995"/>
                    <a:pt x="3696242" y="1468882"/>
                    <a:pt x="3692682" y="1468882"/>
                  </a:cubicBezTo>
                  <a:lnTo>
                    <a:pt x="6447" y="1468882"/>
                  </a:lnTo>
                  <a:cubicBezTo>
                    <a:pt x="2887" y="1468882"/>
                    <a:pt x="0" y="1465995"/>
                    <a:pt x="0" y="1462435"/>
                  </a:cubicBezTo>
                  <a:lnTo>
                    <a:pt x="0" y="6447"/>
                  </a:lnTo>
                  <a:cubicBezTo>
                    <a:pt x="0" y="2887"/>
                    <a:pt x="2887" y="0"/>
                    <a:pt x="6447" y="0"/>
                  </a:cubicBezTo>
                  <a:lnTo>
                    <a:pt x="3692682" y="0"/>
                  </a:lnTo>
                  <a:cubicBezTo>
                    <a:pt x="3696242" y="0"/>
                    <a:pt x="3699129" y="2887"/>
                    <a:pt x="3699129" y="6447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699129" cy="15165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7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950483" y="6770833"/>
            <a:ext cx="305550" cy="325486"/>
          </a:xfrm>
          <a:custGeom>
            <a:avLst/>
            <a:gdLst/>
            <a:ahLst/>
            <a:cxnLst/>
            <a:rect l="l" t="t" r="r" b="b"/>
            <a:pathLst>
              <a:path w="305550" h="325486">
                <a:moveTo>
                  <a:pt x="0" y="0"/>
                </a:moveTo>
                <a:lnTo>
                  <a:pt x="305550" y="0"/>
                </a:lnTo>
                <a:lnTo>
                  <a:pt x="305550" y="325486"/>
                </a:lnTo>
                <a:lnTo>
                  <a:pt x="0" y="325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433926" y="7096319"/>
            <a:ext cx="9631680" cy="987923"/>
          </a:xfrm>
          <a:custGeom>
            <a:avLst/>
            <a:gdLst/>
            <a:ahLst/>
            <a:cxnLst/>
            <a:rect l="l" t="t" r="r" b="b"/>
            <a:pathLst>
              <a:path w="9631680" h="987923">
                <a:moveTo>
                  <a:pt x="0" y="0"/>
                </a:moveTo>
                <a:lnTo>
                  <a:pt x="9631680" y="0"/>
                </a:lnTo>
                <a:lnTo>
                  <a:pt x="9631680" y="987923"/>
                </a:lnTo>
                <a:lnTo>
                  <a:pt x="0" y="987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026800" y="7278734"/>
            <a:ext cx="8445931" cy="1245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2"/>
              </a:lnSpc>
            </a:pPr>
            <a:r>
              <a:rPr lang="en-US" sz="3428" spc="198" dirty="0">
                <a:solidFill>
                  <a:srgbClr val="3A3B3C"/>
                </a:solidFill>
                <a:latin typeface="Times New Roman 1"/>
                <a:ea typeface="Times New Roman 1"/>
                <a:cs typeface="Times New Roman 1"/>
                <a:sym typeface="Times New Roman 1"/>
              </a:rPr>
              <a:t>Contact: ruobingxian@fudan.edu.cn</a:t>
            </a:r>
          </a:p>
          <a:p>
            <a:pPr algn="ctr">
              <a:lnSpc>
                <a:spcPts val="4902"/>
              </a:lnSpc>
            </a:pPr>
            <a:endParaRPr lang="en-US" sz="3428" spc="198" dirty="0">
              <a:solidFill>
                <a:srgbClr val="3A3B3C"/>
              </a:solidFill>
              <a:latin typeface="Times New Roman 1"/>
              <a:ea typeface="Times New Roman 1"/>
              <a:cs typeface="Times New Roman 1"/>
              <a:sym typeface="Times New Roman 1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987346" y="4207954"/>
            <a:ext cx="10643054" cy="1024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30"/>
              </a:lnSpc>
            </a:pPr>
            <a:r>
              <a:rPr lang="en-US" sz="6799" b="1" spc="27" dirty="0">
                <a:solidFill>
                  <a:srgbClr val="413D38"/>
                </a:solidFill>
                <a:latin typeface="Futura Bold"/>
                <a:ea typeface="Futura Bold"/>
                <a:cs typeface="Futura Bold"/>
                <a:sym typeface="Futura Bold"/>
              </a:rPr>
              <a:t>Thanks for your attention！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1779</TotalTime>
  <Words>390</Words>
  <Application>Microsoft Macintosh PowerPoint</Application>
  <PresentationFormat>Custom</PresentationFormat>
  <Paragraphs>75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Times New Roman</vt:lpstr>
      <vt:lpstr>Times New Roman 1</vt:lpstr>
      <vt:lpstr>Futura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26SS ppt week 2.pptx</dc:title>
  <cp:lastModifiedBy>Microsoft Office User</cp:lastModifiedBy>
  <cp:revision>18</cp:revision>
  <dcterms:created xsi:type="dcterms:W3CDTF">2006-08-16T00:00:00Z</dcterms:created>
  <dcterms:modified xsi:type="dcterms:W3CDTF">2026-03-10T03:31:03Z</dcterms:modified>
  <dc:identifier>DAHDQ_GXqPw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{"Label":"1","ContentProducer":"001191110105MA01AN806X00000","ProduceID":"DAHDQ_GXqPw","ReservedCode1":"","ContentPropagator":"001191110105MA01AN806X00000","PropagateID":"DAHDQ_GXqPw","ReservedCode2":""}</vt:lpwstr>
  </property>
</Properties>
</file>