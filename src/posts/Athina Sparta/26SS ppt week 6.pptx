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1" r:id="rId2"/>
    <p:sldId id="264" r:id="rId3"/>
    <p:sldId id="256" r:id="rId4"/>
    <p:sldId id="257" r:id="rId5"/>
    <p:sldId id="258" r:id="rId6"/>
    <p:sldId id="259" r:id="rId7"/>
    <p:sldId id="260" r:id="rId8"/>
    <p:sldId id="262" r:id="rId9"/>
    <p:sldId id="263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48"/>
    <a:srgbClr val="18184E"/>
    <a:srgbClr val="0A0A5C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9" autoAdjust="0"/>
    <p:restoredTop sz="94729"/>
  </p:normalViewPr>
  <p:slideViewPr>
    <p:cSldViewPr snapToGrid="0">
      <p:cViewPr varScale="1">
        <p:scale>
          <a:sx n="109" d="100"/>
          <a:sy n="109" d="100"/>
        </p:scale>
        <p:origin x="3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B293F-776F-4E74-931F-7DA87EC5BF87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6D56D7-0B58-4ACA-8902-1F5853D1DC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3152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6D56D7-0B58-4ACA-8902-1F5853D1DC1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1056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34AD69-FDB3-5359-9773-6F0015AD54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54906F5-26AD-2F4B-BC0B-37ACB096E9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798A9D-2AAB-5548-21EE-0FB6DA079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4738-4CCE-4DFA-8AAB-B93722FF04F6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169F5D-496F-F853-06C7-D12DF9583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533A49-DBD5-1F1B-61BF-87D0CCACB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A0C0-E8F8-4285-8435-4105219A7E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5183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C55761-A09A-7B94-40CA-8326DA2B7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86116C-12E3-D2DF-F528-B822817B6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0E6C4B-3BB3-EE02-F68E-B72A5239B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4738-4CCE-4DFA-8AAB-B93722FF04F6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F16EC7-B0DA-31BB-4650-91ED6E645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E9BA82-58E2-80C9-C698-3F6B8C27A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A0C0-E8F8-4285-8435-4105219A7E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6426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58C9C0-13D5-1C4D-9872-9BE05D8D5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8B60E6-E845-39CF-6978-C8FF09A1A1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A30D76-2C88-4719-C470-971F9CD92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4738-4CCE-4DFA-8AAB-B93722FF04F6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F7E97B-9567-2D8B-F21A-57BE0F269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949414-5CC8-E48F-FCCA-38BAE9890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A0C0-E8F8-4285-8435-4105219A7E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492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E491FD-7071-128F-5C70-01AE75B68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7D4E53-093B-E6CE-A419-F6B2DFDE16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D37CB3-8319-472A-15F6-5DCF30942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D8EE79-2007-AB1F-4A33-5FCA75B4B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4738-4CCE-4DFA-8AAB-B93722FF04F6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95C857-63EF-7328-8FBA-EF264F8D0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81C9EF-3B02-8A08-00A9-BA16B452F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A0C0-E8F8-4285-8435-4105219A7E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7693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D58117-0E06-49F9-DE27-924B724C4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6664AE-5CFC-3DAE-8655-7C32FE865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2A43969-F10D-472B-7FB5-7C97517B2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A4C4E3E-1959-88B5-47E1-9E1F69D508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8938777-B19E-D717-FD99-225AF79BB1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3AFB4C7-3767-2908-03AF-FC8412F33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4738-4CCE-4DFA-8AAB-B93722FF04F6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7B91682-BF4B-DC54-3290-A03F0DB1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A6C99E6-21DB-24A9-DC65-12D9404D4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A0C0-E8F8-4285-8435-4105219A7E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6071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2179B7-16A4-9DAF-C533-068F59FE5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AEC7732-E8EE-4CBF-CB6A-821AE05D2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4738-4CCE-4DFA-8AAB-B93722FF04F6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4EF4CB1-0D33-07A6-C370-FC7A47F21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C157FC7-7216-F242-8947-390FB6956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A0C0-E8F8-4285-8435-4105219A7E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0320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20C4425-755E-2AAF-BF14-DF43A1D93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4738-4CCE-4DFA-8AAB-B93722FF04F6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082955D-8BF7-B834-E094-FA0BAA9FF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B69BE7-12F3-A166-086F-54073FC85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A0C0-E8F8-4285-8435-4105219A7E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848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2F9F53-7F67-BD3C-43BE-1CCC5E5F6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5D632F-47BA-B153-5630-9851EDBBF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2C98D65-975F-E633-BEF6-5CA0CDDF5F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D93048-2A14-1C87-1B39-4703DA55D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4738-4CCE-4DFA-8AAB-B93722FF04F6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F3E875-B8F5-875C-1378-BB8BBB960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B43B2D-5E97-8326-900C-859C540A4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A0C0-E8F8-4285-8435-4105219A7E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064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0B0851-FD81-4979-B830-8B51267AF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6DDD057-C97B-EA65-60C2-7388ED3B94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9B133DE-A2CD-8E63-7D78-5D8D5B6529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AC5FAB-3B51-778F-DF62-5D3BF9014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4738-4CCE-4DFA-8AAB-B93722FF04F6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A9C9FA-F7F3-B04D-FBCE-5BDB8B8D6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A2AFDB-B461-57F7-7A2C-557E52166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A0C0-E8F8-4285-8435-4105219A7E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4845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05E6EE-5FF8-A683-972F-C0BEF8DCD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FBC79FD-B44E-F262-44F2-2FA231F57D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BB6A35-59F8-07A7-B441-4845A4DFB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4738-4CCE-4DFA-8AAB-B93722FF04F6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60CD41-06F2-B3F7-7D0B-DA7B6E96F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AA6817-37E2-94CF-8F88-339AC987E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A0C0-E8F8-4285-8435-4105219A7E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3350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F0AA260-9980-E541-1E38-DD49F9242F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676B28B-2CEF-F87B-8BEC-AB662B23FB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F8E82A-100E-794E-0235-AA00D8257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14738-4CCE-4DFA-8AAB-B93722FF04F6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6B1D5A-AFB3-E2DC-4581-DA17149F1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24039B-529E-5C0B-C698-617E854BB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A0C0-E8F8-4285-8435-4105219A7E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0465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5D4E819-C6BA-BD2D-D666-9CD32290B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79D0E5-032B-D08B-FE6D-36F8DC1AA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E33787-3E8A-C51E-09E1-E52B2839F6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714738-4CCE-4DFA-8AAB-B93722FF04F6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4E8B0D-8BAB-66B7-4FDF-A0365F75E1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7C0D5B-91C1-9EDF-B79E-B38C620D66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FA0C0-E8F8-4285-8435-4105219A7E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3231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 txBox="1"/>
          <p:nvPr/>
        </p:nvSpPr>
        <p:spPr>
          <a:xfrm>
            <a:off x="1275105" y="1683968"/>
            <a:ext cx="7741658" cy="2000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</a:pPr>
            <a:r>
              <a:rPr lang="en-US" sz="4334" dirty="0">
                <a:solidFill>
                  <a:srgbClr val="1D2D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Greek Literature in the Era of </a:t>
            </a:r>
          </a:p>
          <a:p>
            <a:pPr>
              <a:lnSpc>
                <a:spcPts val="5200"/>
              </a:lnSpc>
            </a:pPr>
            <a:r>
              <a:rPr lang="en-US" sz="4334" dirty="0">
                <a:solidFill>
                  <a:srgbClr val="1D2D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4334" dirty="0" err="1">
                <a:solidFill>
                  <a:srgbClr val="1D2D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Atheno</a:t>
            </a:r>
            <a:r>
              <a:rPr lang="en-US" sz="4334" dirty="0">
                <a:solidFill>
                  <a:srgbClr val="1D2D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-Peloponnesian Wars</a:t>
            </a:r>
          </a:p>
          <a:p>
            <a:pPr>
              <a:lnSpc>
                <a:spcPts val="5200"/>
              </a:lnSpc>
            </a:pPr>
            <a:r>
              <a:rPr lang="en-US" sz="4334" dirty="0">
                <a:solidFill>
                  <a:srgbClr val="1D2D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(431–404 BCE)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75105" y="5037718"/>
            <a:ext cx="2331435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1"/>
              </a:lnSpc>
            </a:pPr>
            <a:r>
              <a:rPr lang="en-US" sz="1868" dirty="0">
                <a:solidFill>
                  <a:srgbClr val="1D2D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Prof. Dr. </a:t>
            </a:r>
            <a:r>
              <a:rPr lang="en-US" sz="1868" dirty="0" err="1">
                <a:solidFill>
                  <a:srgbClr val="1D2D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Ruobing</a:t>
            </a:r>
            <a:r>
              <a:rPr lang="en-US" sz="1868" dirty="0">
                <a:solidFill>
                  <a:srgbClr val="1D2D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Xian</a:t>
            </a:r>
          </a:p>
          <a:p>
            <a:pPr algn="ctr">
              <a:lnSpc>
                <a:spcPts val="2241"/>
              </a:lnSpc>
            </a:pPr>
            <a:endParaRPr lang="en-US" sz="1868" dirty="0">
              <a:solidFill>
                <a:srgbClr val="1D2D2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308533" y="6120587"/>
            <a:ext cx="2391599" cy="231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13"/>
              </a:lnSpc>
            </a:pPr>
            <a:r>
              <a:rPr lang="en-US" sz="1333" dirty="0">
                <a:solidFill>
                  <a:srgbClr val="483C46"/>
                </a:solidFill>
                <a:latin typeface="+mn-ea"/>
                <a:cs typeface="Akzidenz-Grotesk"/>
                <a:sym typeface="Akzidenz-Grotesk"/>
              </a:rPr>
              <a:t>SPRING SEMESTER 2026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5105" y="4166445"/>
            <a:ext cx="8793637" cy="3526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86"/>
              </a:lnSpc>
              <a:spcBef>
                <a:spcPct val="0"/>
              </a:spcBef>
            </a:pPr>
            <a:r>
              <a:rPr lang="en-US" sz="213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Hecataeus of Miletus (II): </a:t>
            </a:r>
            <a:r>
              <a:rPr lang="en-US" sz="2133" i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Periodos </a:t>
            </a:r>
            <a:r>
              <a:rPr lang="en-US" sz="2133" i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Gês</a:t>
            </a:r>
            <a:r>
              <a:rPr lang="en-US" sz="213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Herodotean ‘Plagiarism’ and Criticism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7"/>
          <p:cNvSpPr txBox="1"/>
          <p:nvPr/>
        </p:nvSpPr>
        <p:spPr>
          <a:xfrm>
            <a:off x="353279" y="3175293"/>
            <a:ext cx="3860668" cy="65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8"/>
              </a:lnSpc>
            </a:pPr>
            <a:r>
              <a:rPr lang="en-US" sz="4399" spc="87" dirty="0">
                <a:solidFill>
                  <a:srgbClr val="1E1E1E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grandir Wide"/>
              </a:rPr>
              <a:t>Contents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69082" y="1207656"/>
            <a:ext cx="1408303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36"/>
              </a:lnSpc>
              <a:spcBef>
                <a:spcPct val="0"/>
              </a:spcBef>
            </a:pPr>
            <a:r>
              <a:rPr lang="en-US" sz="4613" spc="92" dirty="0">
                <a:solidFill>
                  <a:srgbClr val="757B6C"/>
                </a:solidFill>
                <a:latin typeface="+mj-lt"/>
                <a:ea typeface="Agrandir Wide"/>
                <a:cs typeface="Agrandir Wide"/>
                <a:sym typeface="Agrandir Wide"/>
              </a:rPr>
              <a:t>01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08015" y="2144290"/>
            <a:ext cx="6332159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0"/>
              </a:lnSpc>
            </a:pPr>
            <a:r>
              <a:rPr lang="en-US" sz="2858" b="1" dirty="0">
                <a:solidFill>
                  <a:srgbClr val="1E1E4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Fragments of Hecataeus’ </a:t>
            </a:r>
            <a:r>
              <a:rPr lang="en-US" sz="2858" b="1" i="1" dirty="0">
                <a:solidFill>
                  <a:srgbClr val="1E1E4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Periodos </a:t>
            </a:r>
            <a:r>
              <a:rPr lang="en-US" sz="2858" b="1" i="1" dirty="0" err="1">
                <a:solidFill>
                  <a:srgbClr val="1E1E4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Gês</a:t>
            </a:r>
            <a:endParaRPr lang="en-US" sz="2858" b="1" i="1" dirty="0">
              <a:solidFill>
                <a:srgbClr val="1E1E48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4369082" y="2781487"/>
            <a:ext cx="1408303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36"/>
              </a:lnSpc>
              <a:spcBef>
                <a:spcPct val="0"/>
              </a:spcBef>
            </a:pPr>
            <a:r>
              <a:rPr lang="en-US" sz="4613" spc="92" dirty="0">
                <a:solidFill>
                  <a:srgbClr val="757B6C"/>
                </a:solidFill>
                <a:latin typeface="+mj-lt"/>
                <a:sym typeface="Agrandir Wide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408014" y="3690403"/>
            <a:ext cx="7249718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0"/>
              </a:lnSpc>
            </a:pPr>
            <a:r>
              <a:rPr lang="en-US" sz="2858" b="1">
                <a:solidFill>
                  <a:srgbClr val="1E1E4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Herodotus’ Book 2 and Hecataeus of Miletus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362294" y="4330015"/>
            <a:ext cx="1408303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36"/>
              </a:lnSpc>
              <a:spcBef>
                <a:spcPct val="0"/>
              </a:spcBef>
            </a:pPr>
            <a:r>
              <a:rPr lang="en-US" sz="4613" spc="92" dirty="0">
                <a:solidFill>
                  <a:srgbClr val="757B6C"/>
                </a:solidFill>
                <a:latin typeface="+mj-lt"/>
                <a:sym typeface="Agrandir Wide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362294" y="5171832"/>
            <a:ext cx="5168949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0"/>
              </a:lnSpc>
            </a:pPr>
            <a:r>
              <a:rPr lang="en-US" sz="2858" b="1" dirty="0">
                <a:solidFill>
                  <a:srgbClr val="1E1E4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Hecataeus’ List of Nile Islands 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3975382" y="1907116"/>
            <a:ext cx="31750" cy="3493961"/>
            <a:chOff x="0" y="0"/>
            <a:chExt cx="9987" cy="109897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987" cy="1098979"/>
            </a:xfrm>
            <a:custGeom>
              <a:avLst/>
              <a:gdLst/>
              <a:ahLst/>
              <a:cxnLst/>
              <a:rect l="l" t="t" r="r" b="b"/>
              <a:pathLst>
                <a:path w="9987" h="1098979">
                  <a:moveTo>
                    <a:pt x="0" y="0"/>
                  </a:moveTo>
                  <a:lnTo>
                    <a:pt x="9987" y="0"/>
                  </a:lnTo>
                  <a:lnTo>
                    <a:pt x="9987" y="1098979"/>
                  </a:lnTo>
                  <a:lnTo>
                    <a:pt x="0" y="1098979"/>
                  </a:lnTo>
                  <a:close/>
                </a:path>
              </a:pathLst>
            </a:custGeom>
            <a:solidFill>
              <a:srgbClr val="483C4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9987" cy="114660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071"/>
                </a:lnSpc>
              </a:pPr>
              <a:endParaRPr sz="12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47E702DF-E4CF-4026-8F46-9A9B18DE48A7}"/>
              </a:ext>
            </a:extLst>
          </p:cNvPr>
          <p:cNvSpPr txBox="1"/>
          <p:nvPr/>
        </p:nvSpPr>
        <p:spPr>
          <a:xfrm>
            <a:off x="563880" y="543807"/>
            <a:ext cx="11369040" cy="548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altLang="zh-CN" sz="2800" kern="100" dirty="0">
                <a:solidFill>
                  <a:srgbClr val="1E1E48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Fragments of Hecataeus’ </a:t>
            </a:r>
            <a:r>
              <a:rPr lang="en-GB" altLang="zh-CN" sz="2800" i="1" kern="100" dirty="0" err="1">
                <a:solidFill>
                  <a:srgbClr val="1E1E48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Periodos</a:t>
            </a:r>
            <a:r>
              <a:rPr lang="en-GB" altLang="zh-CN" sz="2800" i="1" kern="100" dirty="0">
                <a:solidFill>
                  <a:srgbClr val="1E1E48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GB" altLang="zh-CN" sz="2800" i="1" kern="100" dirty="0" err="1">
                <a:solidFill>
                  <a:srgbClr val="1E1E48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Gês</a:t>
            </a:r>
            <a:r>
              <a:rPr lang="en-GB" altLang="zh-CN" sz="2800" kern="100" dirty="0">
                <a:solidFill>
                  <a:srgbClr val="1E1E48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 and Stephanus of Byzantium’s </a:t>
            </a:r>
            <a:r>
              <a:rPr lang="en-GB" altLang="zh-CN" sz="2800" i="1" kern="100" dirty="0" err="1">
                <a:solidFill>
                  <a:srgbClr val="1E1E48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Ethnica</a:t>
            </a:r>
            <a:endParaRPr lang="zh-CN" altLang="zh-CN" sz="2800" kern="100" dirty="0">
              <a:solidFill>
                <a:srgbClr val="1E1E48"/>
              </a:solidFill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46386EC7-3DF9-C23E-C791-956802A83C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321" y="1791970"/>
            <a:ext cx="2953816" cy="4212590"/>
          </a:xfrm>
          <a:prstGeom prst="rect">
            <a:avLst/>
          </a:prstGeom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CBF4FA2C-20D9-627E-3AC1-6AEE7D0C51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480" y="1791970"/>
            <a:ext cx="3877508" cy="4212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502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97819-69E1-6D3D-0F2F-AEDA7C960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C87007C-86C0-A8BA-8167-810278186DF8}"/>
              </a:ext>
            </a:extLst>
          </p:cNvPr>
          <p:cNvSpPr txBox="1"/>
          <p:nvPr/>
        </p:nvSpPr>
        <p:spPr>
          <a:xfrm>
            <a:off x="540774" y="527083"/>
            <a:ext cx="8984226" cy="58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altLang="zh-CN" sz="3000" kern="100" dirty="0">
                <a:solidFill>
                  <a:srgbClr val="18184E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Hecataeus of Miletus or Hecataeus of Abdera?</a:t>
            </a:r>
            <a:endParaRPr lang="zh-CN" altLang="zh-CN" sz="3000" kern="100" dirty="0">
              <a:solidFill>
                <a:srgbClr val="18184E"/>
              </a:solidFill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E0E63840-1FC0-5D9D-AF3E-229586652A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23" y="1811020"/>
            <a:ext cx="8233019" cy="3903980"/>
          </a:xfrm>
          <a:prstGeom prst="rect">
            <a:avLst/>
          </a:prstGeom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637195AF-6312-F09F-76EC-5986B67BF2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4683" y="1543992"/>
            <a:ext cx="3388995" cy="500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039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DFB79-B0CB-0F27-4143-F985DDD62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5D2E392-DAE2-4FAB-A663-8F5D04B2E197}"/>
              </a:ext>
            </a:extLst>
          </p:cNvPr>
          <p:cNvSpPr txBox="1"/>
          <p:nvPr/>
        </p:nvSpPr>
        <p:spPr>
          <a:xfrm>
            <a:off x="495054" y="501097"/>
            <a:ext cx="6096000" cy="58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altLang="zh-CN" sz="3000" kern="100" dirty="0">
                <a:solidFill>
                  <a:srgbClr val="18184E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The Alleged Herodotean Plagiarism</a:t>
            </a:r>
            <a:endParaRPr lang="zh-CN" altLang="zh-CN" sz="3000" kern="100" dirty="0">
              <a:solidFill>
                <a:srgbClr val="18184E"/>
              </a:solidFill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Picture 7">
            <a:extLst>
              <a:ext uri="{FF2B5EF4-FFF2-40B4-BE49-F238E27FC236}">
                <a16:creationId xmlns:a16="http://schemas.microsoft.com/office/drawing/2014/main" id="{0BF55F5B-1C5F-93F2-EEFC-4AEE71C69E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51" y="1670367"/>
            <a:ext cx="11241210" cy="468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411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5D118-964E-2A8E-7C79-AD2519B18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94D86C1-2CF7-5E31-B604-B89D6E83D51C}"/>
              </a:ext>
            </a:extLst>
          </p:cNvPr>
          <p:cNvSpPr txBox="1"/>
          <p:nvPr/>
        </p:nvSpPr>
        <p:spPr>
          <a:xfrm>
            <a:off x="647453" y="516337"/>
            <a:ext cx="8387069" cy="58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3000" kern="100" dirty="0">
                <a:solidFill>
                  <a:srgbClr val="18184E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Herodotus on the Reasons for the Nile Flood</a:t>
            </a:r>
            <a:endParaRPr lang="zh-CN" altLang="zh-CN" sz="3000" kern="100" dirty="0">
              <a:solidFill>
                <a:srgbClr val="18184E"/>
              </a:solidFill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C674B847-6B2E-93EC-FC47-366958AF49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078" y="1488724"/>
            <a:ext cx="3656238" cy="512626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</p:pic>
      <p:pic>
        <p:nvPicPr>
          <p:cNvPr id="5" name="Picture 12">
            <a:extLst>
              <a:ext uri="{FF2B5EF4-FFF2-40B4-BE49-F238E27FC236}">
                <a16:creationId xmlns:a16="http://schemas.microsoft.com/office/drawing/2014/main" id="{534A6DC1-811A-8A31-D0CC-36CAE144EE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4363" y="1469058"/>
            <a:ext cx="3439713" cy="515957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D844807-3C62-D81D-9389-32C1B1C1F29F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7" r="5642"/>
          <a:stretch>
            <a:fillRect/>
          </a:stretch>
        </p:blipFill>
        <p:spPr>
          <a:xfrm>
            <a:off x="4442316" y="1488723"/>
            <a:ext cx="3602048" cy="512626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  <a:alpha val="92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18344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76696-3AD0-1E29-5BF9-B3DD7EA08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D6AB95A-B856-4A2C-D29C-2665FE30BED5}"/>
              </a:ext>
            </a:extLst>
          </p:cNvPr>
          <p:cNvSpPr txBox="1"/>
          <p:nvPr/>
        </p:nvSpPr>
        <p:spPr>
          <a:xfrm>
            <a:off x="540774" y="527083"/>
            <a:ext cx="9167106" cy="58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altLang="zh-CN" sz="3000" kern="100" dirty="0">
                <a:solidFill>
                  <a:srgbClr val="1E1E48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Map: Anaximander, Hecataeus, and Aristagoras </a:t>
            </a:r>
          </a:p>
        </p:txBody>
      </p:sp>
      <p:pic>
        <p:nvPicPr>
          <p:cNvPr id="5" name="Picture 13">
            <a:extLst>
              <a:ext uri="{FF2B5EF4-FFF2-40B4-BE49-F238E27FC236}">
                <a16:creationId xmlns:a16="http://schemas.microsoft.com/office/drawing/2014/main" id="{A341C6C3-8A09-E81B-359C-F9D521BDBA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358" y="1690945"/>
            <a:ext cx="4591487" cy="4605614"/>
          </a:xfrm>
          <a:prstGeom prst="rect">
            <a:avLst/>
          </a:prstGeom>
        </p:spPr>
      </p:pic>
      <p:pic>
        <p:nvPicPr>
          <p:cNvPr id="6" name="Picture 14">
            <a:extLst>
              <a:ext uri="{FF2B5EF4-FFF2-40B4-BE49-F238E27FC236}">
                <a16:creationId xmlns:a16="http://schemas.microsoft.com/office/drawing/2014/main" id="{9650C085-8A35-F0EB-F4F6-318D9ED80E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920" y="1690945"/>
            <a:ext cx="2904442" cy="460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962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D84A3-2092-6140-65F4-EBAC39A3D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7FDE9BF-8873-8DB2-640E-3BAD75A437EC}"/>
              </a:ext>
            </a:extLst>
          </p:cNvPr>
          <p:cNvSpPr txBox="1"/>
          <p:nvPr/>
        </p:nvSpPr>
        <p:spPr>
          <a:xfrm>
            <a:off x="540774" y="568990"/>
            <a:ext cx="11238271" cy="548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CN" sz="2800" kern="100" dirty="0">
                <a:solidFill>
                  <a:srgbClr val="1E1E48"/>
                </a:solidFill>
                <a:effectLst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Hecataeus F 310: A Display of Collective Identities or A Navigation Manual?</a:t>
            </a:r>
            <a:endParaRPr lang="pt-BR" altLang="zh-CN" sz="2800" kern="100" dirty="0">
              <a:solidFill>
                <a:srgbClr val="1E1E48"/>
              </a:solidFill>
              <a:effectLst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Picture 15">
            <a:extLst>
              <a:ext uri="{FF2B5EF4-FFF2-40B4-BE49-F238E27FC236}">
                <a16:creationId xmlns:a16="http://schemas.microsoft.com/office/drawing/2014/main" id="{55C157C6-D050-1FFE-E4F5-E02B177898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74" y="2469288"/>
            <a:ext cx="7559676" cy="240710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0052975-FE90-E6D0-B4D7-45E3C39B6A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3170" y="1204663"/>
            <a:ext cx="3825875" cy="565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808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F7FC64-C81D-34D6-38BF-FAB248A81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4">
            <a:extLst>
              <a:ext uri="{FF2B5EF4-FFF2-40B4-BE49-F238E27FC236}">
                <a16:creationId xmlns:a16="http://schemas.microsoft.com/office/drawing/2014/main" id="{DC7DE92E-6D8C-2B7F-207E-F5F852D05E20}"/>
              </a:ext>
            </a:extLst>
          </p:cNvPr>
          <p:cNvSpPr txBox="1"/>
          <p:nvPr/>
        </p:nvSpPr>
        <p:spPr>
          <a:xfrm>
            <a:off x="1484534" y="2609079"/>
            <a:ext cx="7040034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00"/>
              </a:lnSpc>
            </a:pPr>
            <a:r>
              <a:rPr lang="en-US" sz="4800" b="1" dirty="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altLang="zh-CN" sz="4800" b="1" dirty="0">
                <a:latin typeface="Times New Roman"/>
                <a:ea typeface="Times New Roman"/>
                <a:cs typeface="Times New Roman"/>
                <a:sym typeface="Times New Roman"/>
              </a:rPr>
              <a:t>hanks for your attention!</a:t>
            </a:r>
            <a:endParaRPr lang="en-US" sz="48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13357D3-6E0C-AF5D-B0CC-31F7E66A8202}"/>
              </a:ext>
            </a:extLst>
          </p:cNvPr>
          <p:cNvSpPr txBox="1"/>
          <p:nvPr/>
        </p:nvSpPr>
        <p:spPr>
          <a:xfrm>
            <a:off x="1789333" y="4248921"/>
            <a:ext cx="5230762" cy="683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436"/>
              </a:lnSpc>
            </a:pPr>
            <a:r>
              <a:rPr lang="en-US" altLang="zh-CN" sz="2400" dirty="0">
                <a:solidFill>
                  <a:srgbClr val="6B2F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Contact:  ruobingxian@fudan.edu.cn</a:t>
            </a:r>
          </a:p>
        </p:txBody>
      </p:sp>
    </p:spTree>
    <p:extLst>
      <p:ext uri="{BB962C8B-B14F-4D97-AF65-F5344CB8AC3E}">
        <p14:creationId xmlns:p14="http://schemas.microsoft.com/office/powerpoint/2010/main" val="2988633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5634</TotalTime>
  <Words>130</Words>
  <Application>Microsoft Macintosh PowerPoint</Application>
  <PresentationFormat>Widescreen</PresentationFormat>
  <Paragraphs>22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等线</vt:lpstr>
      <vt:lpstr>等线 Light</vt:lpstr>
      <vt:lpstr>Times New Roman Bold</vt:lpstr>
      <vt:lpstr>Arial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苏摩 一克半</dc:creator>
  <cp:lastModifiedBy>Microsoft Office User</cp:lastModifiedBy>
  <cp:revision>12</cp:revision>
  <dcterms:created xsi:type="dcterms:W3CDTF">2026-04-02T18:29:15Z</dcterms:created>
  <dcterms:modified xsi:type="dcterms:W3CDTF">2026-04-07T08:48:35Z</dcterms:modified>
</cp:coreProperties>
</file>