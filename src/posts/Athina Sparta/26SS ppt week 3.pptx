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75" r:id="rId2"/>
    <p:sldId id="286" r:id="rId3"/>
    <p:sldId id="276" r:id="rId4"/>
    <p:sldId id="277" r:id="rId5"/>
    <p:sldId id="278" r:id="rId6"/>
    <p:sldId id="287" r:id="rId7"/>
    <p:sldId id="284" r:id="rId8"/>
    <p:sldId id="281" r:id="rId9"/>
    <p:sldId id="279" r:id="rId10"/>
    <p:sldId id="288" r:id="rId11"/>
    <p:sldId id="280" r:id="rId12"/>
    <p:sldId id="283" r:id="rId13"/>
  </p:sldIdLst>
  <p:sldSz cx="18288000" cy="10287000"/>
  <p:notesSz cx="6858000" cy="9144000"/>
  <p:embeddedFontLst>
    <p:embeddedFont>
      <p:font typeface="等线" panose="02010600030101010101" pitchFamily="2" charset="-122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 autoAdjust="0"/>
    <p:restoredTop sz="94279" autoAdjust="0"/>
  </p:normalViewPr>
  <p:slideViewPr>
    <p:cSldViewPr>
      <p:cViewPr varScale="1">
        <p:scale>
          <a:sx n="77" d="100"/>
          <a:sy n="77" d="100"/>
        </p:scale>
        <p:origin x="34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FF42D-29C2-494A-858A-2C271E32F968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D16A78-3742-4C70-AA24-2BC05EAE07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084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D16A78-3742-4C70-AA24-2BC05EAE07D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604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2E112-AD68-BC1C-C5E4-C6C0A4351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DFC458-1CA4-B7A5-8A4F-BF1DC01C0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1C0E56-903E-881D-73F9-FAADB2E74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51D08F-CFE1-2535-D2F3-2D13A199A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D16A78-3742-4C70-AA24-2BC05EAE07D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058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124CF3C-3A9B-C7A7-ECD5-4ADC75BCA2A3}"/>
              </a:ext>
            </a:extLst>
          </p:cNvPr>
          <p:cNvSpPr/>
          <p:nvPr/>
        </p:nvSpPr>
        <p:spPr>
          <a:xfrm>
            <a:off x="1447800" y="5416297"/>
            <a:ext cx="1594816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90500" algn="ctr"/>
            <a:r>
              <a:rPr lang="en-US" altLang="zh-CN" sz="4000" kern="1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History of Scholarship: From Dionysius of Halicarnassus to Felix Jacoby</a:t>
            </a:r>
            <a:endParaRPr lang="zh-CN" altLang="zh-CN" sz="4000" kern="1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7ECE5C-7093-45CF-0F06-E2B1A447A5F8}"/>
              </a:ext>
            </a:extLst>
          </p:cNvPr>
          <p:cNvSpPr/>
          <p:nvPr/>
        </p:nvSpPr>
        <p:spPr>
          <a:xfrm>
            <a:off x="7334782" y="7272634"/>
            <a:ext cx="3618426" cy="640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90500" algn="ctr">
              <a:lnSpc>
                <a:spcPct val="150000"/>
              </a:lnSpc>
            </a:pPr>
            <a:r>
              <a:rPr lang="en-US" altLang="zh-CN" sz="2700" kern="1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Prof. Dr. </a:t>
            </a:r>
            <a:r>
              <a:rPr lang="en-US" altLang="zh-CN" sz="2700" kern="1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Ruobing</a:t>
            </a:r>
            <a:r>
              <a:rPr lang="en-US" altLang="zh-CN" sz="2700" kern="1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 Xian</a:t>
            </a:r>
            <a:endParaRPr lang="zh-CN" altLang="zh-CN" sz="2700" kern="1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2AFE55-6211-1B57-C24E-6630D75115D0}"/>
              </a:ext>
            </a:extLst>
          </p:cNvPr>
          <p:cNvSpPr/>
          <p:nvPr/>
        </p:nvSpPr>
        <p:spPr>
          <a:xfrm>
            <a:off x="1797433" y="3204508"/>
            <a:ext cx="1469312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90500" algn="ctr"/>
            <a:r>
              <a:rPr lang="en-US" altLang="zh-CN" sz="5400" b="1" kern="1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Greek Literature in the Era of the </a:t>
            </a:r>
          </a:p>
          <a:p>
            <a:pPr indent="190500" algn="ctr"/>
            <a:r>
              <a:rPr lang="en-US" altLang="zh-CN" sz="5400" b="1" kern="1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Atheno</a:t>
            </a:r>
            <a:r>
              <a:rPr lang="en-US" altLang="zh-CN" sz="5400" b="1" kern="1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-Peloponnesian Wars (431–404 BCE)</a:t>
            </a:r>
            <a:endParaRPr lang="zh-CN" altLang="zh-CN" sz="5400" b="1" kern="1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03F3063-E20C-2B8A-69BB-25D454BEBCCD}"/>
              </a:ext>
            </a:extLst>
          </p:cNvPr>
          <p:cNvSpPr/>
          <p:nvPr/>
        </p:nvSpPr>
        <p:spPr>
          <a:xfrm>
            <a:off x="6098503" y="6581646"/>
            <a:ext cx="609098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90500" algn="ctr"/>
            <a:r>
              <a:rPr lang="en-US" altLang="zh-CN" sz="3000" b="1" kern="1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DengXian" panose="02010600030101010101" pitchFamily="2" charset="-122"/>
              </a:rPr>
              <a:t>Spring Semester 2026</a:t>
            </a:r>
            <a:endParaRPr lang="zh-CN" altLang="zh-CN" sz="3000" b="1" kern="1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3924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02B02D8-AD3C-B5A7-F652-E11BAFF510FA}"/>
              </a:ext>
            </a:extLst>
          </p:cNvPr>
          <p:cNvSpPr txBox="1"/>
          <p:nvPr/>
        </p:nvSpPr>
        <p:spPr>
          <a:xfrm>
            <a:off x="6496050" y="3514263"/>
            <a:ext cx="52959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77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I</a:t>
            </a:r>
            <a:endParaRPr lang="zh-CN" altLang="en-US" sz="77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D78FF30-6ADD-F012-91F5-95D1132F0D61}"/>
              </a:ext>
            </a:extLst>
          </p:cNvPr>
          <p:cNvSpPr txBox="1"/>
          <p:nvPr/>
        </p:nvSpPr>
        <p:spPr>
          <a:xfrm>
            <a:off x="2590800" y="6210300"/>
            <a:ext cx="13106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54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Development of Ancient Historiography: </a:t>
            </a:r>
          </a:p>
          <a:p>
            <a:pPr algn="ctr"/>
            <a:r>
              <a:rPr lang="zh-CN" altLang="en-US" sz="54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Ancient Model</a:t>
            </a:r>
          </a:p>
        </p:txBody>
      </p:sp>
    </p:spTree>
    <p:extLst>
      <p:ext uri="{BB962C8B-B14F-4D97-AF65-F5344CB8AC3E}">
        <p14:creationId xmlns:p14="http://schemas.microsoft.com/office/powerpoint/2010/main" val="68921458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F8DA6AA-8D19-2B17-C7EF-CAC7342593B0}"/>
              </a:ext>
            </a:extLst>
          </p:cNvPr>
          <p:cNvGrpSpPr/>
          <p:nvPr/>
        </p:nvGrpSpPr>
        <p:grpSpPr>
          <a:xfrm>
            <a:off x="798834" y="500619"/>
            <a:ext cx="16690331" cy="1339494"/>
            <a:chOff x="798834" y="500619"/>
            <a:chExt cx="16690331" cy="1339494"/>
          </a:xfrm>
        </p:grpSpPr>
        <p:grpSp>
          <p:nvGrpSpPr>
            <p:cNvPr id="4" name="Group 12">
              <a:extLst>
                <a:ext uri="{FF2B5EF4-FFF2-40B4-BE49-F238E27FC236}">
                  <a16:creationId xmlns:a16="http://schemas.microsoft.com/office/drawing/2014/main" id="{2192F01A-FDBE-8240-EE9A-80FF0DBBC22A}"/>
                </a:ext>
              </a:extLst>
            </p:cNvPr>
            <p:cNvGrpSpPr/>
            <p:nvPr/>
          </p:nvGrpSpPr>
          <p:grpSpPr>
            <a:xfrm>
              <a:off x="798834" y="500619"/>
              <a:ext cx="16690331" cy="1339494"/>
              <a:chOff x="0" y="0"/>
              <a:chExt cx="4395807" cy="352789"/>
            </a:xfrm>
          </p:grpSpPr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BEA65DF6-EEC3-B3DD-0B87-0F3FC375A95C}"/>
                  </a:ext>
                </a:extLst>
              </p:cNvPr>
              <p:cNvSpPr/>
              <p:nvPr/>
            </p:nvSpPr>
            <p:spPr>
              <a:xfrm>
                <a:off x="0" y="0"/>
                <a:ext cx="4395807" cy="352789"/>
              </a:xfrm>
              <a:custGeom>
                <a:avLst/>
                <a:gdLst/>
                <a:ahLst/>
                <a:cxnLst/>
                <a:rect l="l" t="t" r="r" b="b"/>
                <a:pathLst>
                  <a:path w="4395807" h="352789">
                    <a:moveTo>
                      <a:pt x="0" y="0"/>
                    </a:moveTo>
                    <a:lnTo>
                      <a:pt x="4395807" y="0"/>
                    </a:lnTo>
                    <a:lnTo>
                      <a:pt x="4395807" y="352789"/>
                    </a:lnTo>
                    <a:lnTo>
                      <a:pt x="0" y="35278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9F8F6">
                      <a:alpha val="100000"/>
                    </a:srgbClr>
                  </a:gs>
                  <a:gs pos="100000">
                    <a:srgbClr val="F5F2EB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D3CCB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4">
                <a:extLst>
                  <a:ext uri="{FF2B5EF4-FFF2-40B4-BE49-F238E27FC236}">
                    <a16:creationId xmlns:a16="http://schemas.microsoft.com/office/drawing/2014/main" id="{57C7C2DA-AB13-3F9E-FD90-37E10080FDD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395807" cy="3908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6" name="Group 16">
              <a:extLst>
                <a:ext uri="{FF2B5EF4-FFF2-40B4-BE49-F238E27FC236}">
                  <a16:creationId xmlns:a16="http://schemas.microsoft.com/office/drawing/2014/main" id="{7ABCF91A-835A-F611-DBBA-AC4AC4CBF7A7}"/>
                </a:ext>
              </a:extLst>
            </p:cNvPr>
            <p:cNvGrpSpPr/>
            <p:nvPr/>
          </p:nvGrpSpPr>
          <p:grpSpPr>
            <a:xfrm>
              <a:off x="798834" y="634855"/>
              <a:ext cx="191766" cy="1205258"/>
              <a:chOff x="0" y="0"/>
              <a:chExt cx="60541" cy="352789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8" name="Freeform 17">
                <a:extLst>
                  <a:ext uri="{FF2B5EF4-FFF2-40B4-BE49-F238E27FC236}">
                    <a16:creationId xmlns:a16="http://schemas.microsoft.com/office/drawing/2014/main" id="{4229A48C-5010-CB88-06B5-15AA872FA6E1}"/>
                  </a:ext>
                </a:extLst>
              </p:cNvPr>
              <p:cNvSpPr/>
              <p:nvPr/>
            </p:nvSpPr>
            <p:spPr>
              <a:xfrm>
                <a:off x="0" y="0"/>
                <a:ext cx="60541" cy="352789"/>
              </a:xfrm>
              <a:custGeom>
                <a:avLst/>
                <a:gdLst/>
                <a:ahLst/>
                <a:cxnLst/>
                <a:rect l="l" t="t" r="r" b="b"/>
                <a:pathLst>
                  <a:path w="60541" h="352789">
                    <a:moveTo>
                      <a:pt x="0" y="0"/>
                    </a:moveTo>
                    <a:lnTo>
                      <a:pt x="60541" y="0"/>
                    </a:lnTo>
                    <a:lnTo>
                      <a:pt x="60541" y="352789"/>
                    </a:lnTo>
                    <a:lnTo>
                      <a:pt x="0" y="352789"/>
                    </a:lnTo>
                    <a:close/>
                  </a:path>
                </a:pathLst>
              </a:custGeom>
              <a:grpFill/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8">
                <a:extLst>
                  <a:ext uri="{FF2B5EF4-FFF2-40B4-BE49-F238E27FC236}">
                    <a16:creationId xmlns:a16="http://schemas.microsoft.com/office/drawing/2014/main" id="{E4818E32-D0F1-77BA-F5F9-54CCED3636F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0541" cy="390889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573F4253-CF33-72EF-2F34-6A999486D9F2}"/>
              </a:ext>
            </a:extLst>
          </p:cNvPr>
          <p:cNvSpPr txBox="1"/>
          <p:nvPr/>
        </p:nvSpPr>
        <p:spPr>
          <a:xfrm>
            <a:off x="990600" y="763369"/>
            <a:ext cx="1600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Ancient Historiography: </a:t>
            </a:r>
            <a:r>
              <a:rPr lang="en-GB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Classical 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Modern Historiography?</a:t>
            </a:r>
            <a:endParaRPr lang="zh-CN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1EBB7C6-3F5C-8010-3989-996593510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3086100"/>
            <a:ext cx="4019550" cy="60293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D3C16AB-43E9-4198-D234-9CFEB9FB8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9489" y="3086099"/>
            <a:ext cx="4009501" cy="60293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5E7F37D-5AED-2290-503D-BFAF88C0D4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055" y="3086099"/>
            <a:ext cx="3889887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343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13754-1293-7D69-4415-D88B5AAC2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77EF8A3-22D2-7B59-79DE-ED7A5CB05CBB}"/>
              </a:ext>
            </a:extLst>
          </p:cNvPr>
          <p:cNvGrpSpPr/>
          <p:nvPr/>
        </p:nvGrpSpPr>
        <p:grpSpPr>
          <a:xfrm>
            <a:off x="798834" y="500619"/>
            <a:ext cx="16690331" cy="1339494"/>
            <a:chOff x="798834" y="500619"/>
            <a:chExt cx="16690331" cy="1339494"/>
          </a:xfrm>
        </p:grpSpPr>
        <p:grpSp>
          <p:nvGrpSpPr>
            <p:cNvPr id="4" name="Group 12">
              <a:extLst>
                <a:ext uri="{FF2B5EF4-FFF2-40B4-BE49-F238E27FC236}">
                  <a16:creationId xmlns:a16="http://schemas.microsoft.com/office/drawing/2014/main" id="{665BFCDA-7D3A-C20B-A363-5C2F4A6634BA}"/>
                </a:ext>
              </a:extLst>
            </p:cNvPr>
            <p:cNvGrpSpPr/>
            <p:nvPr/>
          </p:nvGrpSpPr>
          <p:grpSpPr>
            <a:xfrm>
              <a:off x="798834" y="500619"/>
              <a:ext cx="16690331" cy="1339494"/>
              <a:chOff x="0" y="0"/>
              <a:chExt cx="4395807" cy="352789"/>
            </a:xfrm>
          </p:grpSpPr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2226AF77-502C-3BB8-0B7B-36F76AA8C809}"/>
                  </a:ext>
                </a:extLst>
              </p:cNvPr>
              <p:cNvSpPr/>
              <p:nvPr/>
            </p:nvSpPr>
            <p:spPr>
              <a:xfrm>
                <a:off x="0" y="0"/>
                <a:ext cx="4395807" cy="352789"/>
              </a:xfrm>
              <a:custGeom>
                <a:avLst/>
                <a:gdLst/>
                <a:ahLst/>
                <a:cxnLst/>
                <a:rect l="l" t="t" r="r" b="b"/>
                <a:pathLst>
                  <a:path w="4395807" h="352789">
                    <a:moveTo>
                      <a:pt x="0" y="0"/>
                    </a:moveTo>
                    <a:lnTo>
                      <a:pt x="4395807" y="0"/>
                    </a:lnTo>
                    <a:lnTo>
                      <a:pt x="4395807" y="352789"/>
                    </a:lnTo>
                    <a:lnTo>
                      <a:pt x="0" y="35278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9F8F6">
                      <a:alpha val="100000"/>
                    </a:srgbClr>
                  </a:gs>
                  <a:gs pos="100000">
                    <a:srgbClr val="F5F2EB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D3CCB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4">
                <a:extLst>
                  <a:ext uri="{FF2B5EF4-FFF2-40B4-BE49-F238E27FC236}">
                    <a16:creationId xmlns:a16="http://schemas.microsoft.com/office/drawing/2014/main" id="{DE7717E9-8ECE-7440-910C-A321CCD6828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395807" cy="3908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6" name="Group 16">
              <a:extLst>
                <a:ext uri="{FF2B5EF4-FFF2-40B4-BE49-F238E27FC236}">
                  <a16:creationId xmlns:a16="http://schemas.microsoft.com/office/drawing/2014/main" id="{35494D77-C43C-91DA-7EFC-B3B962C1A3F5}"/>
                </a:ext>
              </a:extLst>
            </p:cNvPr>
            <p:cNvGrpSpPr/>
            <p:nvPr/>
          </p:nvGrpSpPr>
          <p:grpSpPr>
            <a:xfrm>
              <a:off x="798834" y="634855"/>
              <a:ext cx="191766" cy="1205258"/>
              <a:chOff x="0" y="0"/>
              <a:chExt cx="60541" cy="352789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8" name="Freeform 17">
                <a:extLst>
                  <a:ext uri="{FF2B5EF4-FFF2-40B4-BE49-F238E27FC236}">
                    <a16:creationId xmlns:a16="http://schemas.microsoft.com/office/drawing/2014/main" id="{27D1C072-6B35-69D9-2D20-6F6195066D22}"/>
                  </a:ext>
                </a:extLst>
              </p:cNvPr>
              <p:cNvSpPr/>
              <p:nvPr/>
            </p:nvSpPr>
            <p:spPr>
              <a:xfrm>
                <a:off x="0" y="0"/>
                <a:ext cx="60541" cy="352789"/>
              </a:xfrm>
              <a:custGeom>
                <a:avLst/>
                <a:gdLst/>
                <a:ahLst/>
                <a:cxnLst/>
                <a:rect l="l" t="t" r="r" b="b"/>
                <a:pathLst>
                  <a:path w="60541" h="352789">
                    <a:moveTo>
                      <a:pt x="0" y="0"/>
                    </a:moveTo>
                    <a:lnTo>
                      <a:pt x="60541" y="0"/>
                    </a:lnTo>
                    <a:lnTo>
                      <a:pt x="60541" y="352789"/>
                    </a:lnTo>
                    <a:lnTo>
                      <a:pt x="0" y="352789"/>
                    </a:lnTo>
                    <a:close/>
                  </a:path>
                </a:pathLst>
              </a:custGeom>
              <a:grpFill/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8">
                <a:extLst>
                  <a:ext uri="{FF2B5EF4-FFF2-40B4-BE49-F238E27FC236}">
                    <a16:creationId xmlns:a16="http://schemas.microsoft.com/office/drawing/2014/main" id="{B3FDF802-F064-C5CC-E2FB-21F35408637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0541" cy="390889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EE32CABB-9CBE-3B69-256B-9A69D230ABAB}"/>
              </a:ext>
            </a:extLst>
          </p:cNvPr>
          <p:cNvSpPr txBox="1"/>
          <p:nvPr/>
        </p:nvSpPr>
        <p:spPr>
          <a:xfrm>
            <a:off x="1219200" y="801034"/>
            <a:ext cx="5943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Writing History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5BCFB8B-6F06-D47C-D3DE-CD186EF99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430" y="3086100"/>
            <a:ext cx="4038601" cy="61971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2A04119-B53D-7609-E0BF-5AD3AB6477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351" y="3086100"/>
            <a:ext cx="4238291" cy="619716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93A162E-ECE0-7240-3B1E-895DCA3598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039600" y="3086100"/>
            <a:ext cx="4343916" cy="599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7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80042-C9A1-F563-613C-193B0C5DB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94967F-7239-594D-D6F4-EB095041911C}"/>
              </a:ext>
            </a:extLst>
          </p:cNvPr>
          <p:cNvGrpSpPr/>
          <p:nvPr/>
        </p:nvGrpSpPr>
        <p:grpSpPr>
          <a:xfrm>
            <a:off x="798834" y="500619"/>
            <a:ext cx="16690331" cy="1339494"/>
            <a:chOff x="798834" y="500619"/>
            <a:chExt cx="16690331" cy="1339494"/>
          </a:xfrm>
        </p:grpSpPr>
        <p:grpSp>
          <p:nvGrpSpPr>
            <p:cNvPr id="16" name="Group 12">
              <a:extLst>
                <a:ext uri="{FF2B5EF4-FFF2-40B4-BE49-F238E27FC236}">
                  <a16:creationId xmlns:a16="http://schemas.microsoft.com/office/drawing/2014/main" id="{AEFA6263-DA17-D2D4-2B80-27D4488AB892}"/>
                </a:ext>
              </a:extLst>
            </p:cNvPr>
            <p:cNvGrpSpPr/>
            <p:nvPr/>
          </p:nvGrpSpPr>
          <p:grpSpPr>
            <a:xfrm>
              <a:off x="798834" y="500619"/>
              <a:ext cx="16690331" cy="1339494"/>
              <a:chOff x="0" y="0"/>
              <a:chExt cx="4395807" cy="352789"/>
            </a:xfrm>
          </p:grpSpPr>
          <p:sp>
            <p:nvSpPr>
              <p:cNvPr id="20" name="Freeform 13">
                <a:extLst>
                  <a:ext uri="{FF2B5EF4-FFF2-40B4-BE49-F238E27FC236}">
                    <a16:creationId xmlns:a16="http://schemas.microsoft.com/office/drawing/2014/main" id="{E5227F0C-8162-EE2C-D380-1508E1B321E6}"/>
                  </a:ext>
                </a:extLst>
              </p:cNvPr>
              <p:cNvSpPr/>
              <p:nvPr/>
            </p:nvSpPr>
            <p:spPr>
              <a:xfrm>
                <a:off x="0" y="0"/>
                <a:ext cx="4395807" cy="352789"/>
              </a:xfrm>
              <a:custGeom>
                <a:avLst/>
                <a:gdLst/>
                <a:ahLst/>
                <a:cxnLst/>
                <a:rect l="l" t="t" r="r" b="b"/>
                <a:pathLst>
                  <a:path w="4395807" h="352789">
                    <a:moveTo>
                      <a:pt x="0" y="0"/>
                    </a:moveTo>
                    <a:lnTo>
                      <a:pt x="4395807" y="0"/>
                    </a:lnTo>
                    <a:lnTo>
                      <a:pt x="4395807" y="352789"/>
                    </a:lnTo>
                    <a:lnTo>
                      <a:pt x="0" y="35278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9F8F6">
                      <a:alpha val="100000"/>
                    </a:srgbClr>
                  </a:gs>
                  <a:gs pos="100000">
                    <a:srgbClr val="F5F2EB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D3CCB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14">
                <a:extLst>
                  <a:ext uri="{FF2B5EF4-FFF2-40B4-BE49-F238E27FC236}">
                    <a16:creationId xmlns:a16="http://schemas.microsoft.com/office/drawing/2014/main" id="{0F21FDA6-EF26-F87E-A4E2-1D62457AE35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395807" cy="3908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02929D5-A7CF-28D7-5A6C-B1A1F5A1906D}"/>
                </a:ext>
              </a:extLst>
            </p:cNvPr>
            <p:cNvGrpSpPr/>
            <p:nvPr/>
          </p:nvGrpSpPr>
          <p:grpSpPr>
            <a:xfrm>
              <a:off x="798834" y="634855"/>
              <a:ext cx="191766" cy="1205258"/>
              <a:chOff x="0" y="0"/>
              <a:chExt cx="60541" cy="352789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E97B9950-F784-1935-2838-B0AC95D1E6EE}"/>
                  </a:ext>
                </a:extLst>
              </p:cNvPr>
              <p:cNvSpPr/>
              <p:nvPr/>
            </p:nvSpPr>
            <p:spPr>
              <a:xfrm>
                <a:off x="0" y="0"/>
                <a:ext cx="60541" cy="352789"/>
              </a:xfrm>
              <a:custGeom>
                <a:avLst/>
                <a:gdLst/>
                <a:ahLst/>
                <a:cxnLst/>
                <a:rect l="l" t="t" r="r" b="b"/>
                <a:pathLst>
                  <a:path w="60541" h="352789">
                    <a:moveTo>
                      <a:pt x="0" y="0"/>
                    </a:moveTo>
                    <a:lnTo>
                      <a:pt x="60541" y="0"/>
                    </a:lnTo>
                    <a:lnTo>
                      <a:pt x="60541" y="352789"/>
                    </a:lnTo>
                    <a:lnTo>
                      <a:pt x="0" y="352789"/>
                    </a:lnTo>
                    <a:close/>
                  </a:path>
                </a:pathLst>
              </a:custGeom>
              <a:grpFill/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95CCE33-FD24-D41F-CD91-3D174B523B8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0541" cy="390889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C4626472-27AB-7786-5084-FCB4660E5B09}"/>
              </a:ext>
            </a:extLst>
          </p:cNvPr>
          <p:cNvSpPr txBox="1"/>
          <p:nvPr/>
        </p:nvSpPr>
        <p:spPr>
          <a:xfrm>
            <a:off x="1143000" y="801034"/>
            <a:ext cx="101727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Dionysius of Halicarnassus </a:t>
            </a:r>
            <a:r>
              <a:rPr lang="zh-CN" altLang="en-US" sz="4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Thucydides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A1547A-1D8A-8E85-8882-77E83C265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784" y="3080757"/>
            <a:ext cx="4335578" cy="632994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718053B-A36D-FAEA-2CAA-D2644A60E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3080757"/>
            <a:ext cx="4190423" cy="632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410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F42F127-CF26-CDDE-84BE-1CEEB6582D8F}"/>
              </a:ext>
            </a:extLst>
          </p:cNvPr>
          <p:cNvSpPr txBox="1"/>
          <p:nvPr/>
        </p:nvSpPr>
        <p:spPr>
          <a:xfrm>
            <a:off x="2038350" y="6134100"/>
            <a:ext cx="142113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Development of Ancient Historiography: Modern Model</a:t>
            </a:r>
            <a:endParaRPr lang="zh-CN" altLang="en-US" sz="54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360A2C-4CEC-474F-48E3-DA36568D3A48}"/>
              </a:ext>
            </a:extLst>
          </p:cNvPr>
          <p:cNvSpPr txBox="1"/>
          <p:nvPr/>
        </p:nvSpPr>
        <p:spPr>
          <a:xfrm>
            <a:off x="6496050" y="3514263"/>
            <a:ext cx="52959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77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II</a:t>
            </a:r>
            <a:endParaRPr lang="zh-CN" altLang="en-US" sz="77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069597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>
            <a:extLst>
              <a:ext uri="{FF2B5EF4-FFF2-40B4-BE49-F238E27FC236}">
                <a16:creationId xmlns:a16="http://schemas.microsoft.com/office/drawing/2014/main" id="{3F7F6AD3-51BA-EE3E-777F-DDCC3216B361}"/>
              </a:ext>
            </a:extLst>
          </p:cNvPr>
          <p:cNvSpPr/>
          <p:nvPr/>
        </p:nvSpPr>
        <p:spPr>
          <a:xfrm>
            <a:off x="798834" y="500619"/>
            <a:ext cx="16690331" cy="1339494"/>
          </a:xfrm>
          <a:custGeom>
            <a:avLst/>
            <a:gdLst/>
            <a:ahLst/>
            <a:cxnLst/>
            <a:rect l="l" t="t" r="r" b="b"/>
            <a:pathLst>
              <a:path w="4395807" h="352789">
                <a:moveTo>
                  <a:pt x="0" y="0"/>
                </a:moveTo>
                <a:lnTo>
                  <a:pt x="4395807" y="0"/>
                </a:lnTo>
                <a:lnTo>
                  <a:pt x="4395807" y="352789"/>
                </a:lnTo>
                <a:lnTo>
                  <a:pt x="0" y="352789"/>
                </a:lnTo>
                <a:close/>
              </a:path>
            </a:pathLst>
          </a:custGeom>
          <a:gradFill rotWithShape="1">
            <a:gsLst>
              <a:gs pos="0">
                <a:srgbClr val="F9F8F6">
                  <a:alpha val="100000"/>
                </a:srgbClr>
              </a:gs>
              <a:gs pos="100000">
                <a:srgbClr val="F5F2EB">
                  <a:alpha val="100000"/>
                </a:srgbClr>
              </a:gs>
            </a:gsLst>
            <a:lin ang="0"/>
          </a:gradFill>
          <a:ln w="19050" cap="sq">
            <a:solidFill>
              <a:srgbClr val="D3CCBF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8">
            <a:extLst>
              <a:ext uri="{FF2B5EF4-FFF2-40B4-BE49-F238E27FC236}">
                <a16:creationId xmlns:a16="http://schemas.microsoft.com/office/drawing/2014/main" id="{86029BF3-0E35-8019-1758-F46A7F19BC65}"/>
              </a:ext>
            </a:extLst>
          </p:cNvPr>
          <p:cNvSpPr txBox="1"/>
          <p:nvPr/>
        </p:nvSpPr>
        <p:spPr>
          <a:xfrm>
            <a:off x="798834" y="504691"/>
            <a:ext cx="191766" cy="133542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660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52">
            <a:extLst>
              <a:ext uri="{FF2B5EF4-FFF2-40B4-BE49-F238E27FC236}">
                <a16:creationId xmlns:a16="http://schemas.microsoft.com/office/drawing/2014/main" id="{83427E41-5DD0-43E7-D7BF-4505C485E1D1}"/>
              </a:ext>
            </a:extLst>
          </p:cNvPr>
          <p:cNvSpPr txBox="1"/>
          <p:nvPr/>
        </p:nvSpPr>
        <p:spPr>
          <a:xfrm>
            <a:off x="1447800" y="800100"/>
            <a:ext cx="16212820" cy="685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altLang="zh-CN" sz="3600" b="1" spc="32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Zcool XiaoWei" panose="00000500000000000000"/>
                <a:cs typeface="Times New Roman" panose="02020603050405020304" pitchFamily="18" charset="0"/>
                <a:sym typeface="Zcool XiaoWei" panose="00000500000000000000"/>
              </a:rPr>
              <a:t>Felix Jacoby and </a:t>
            </a:r>
            <a:r>
              <a:rPr lang="en-US" altLang="zh-CN" sz="3600" b="1" i="1" spc="32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Zcool XiaoWei" panose="00000500000000000000"/>
                <a:cs typeface="Times New Roman" panose="02020603050405020304" pitchFamily="18" charset="0"/>
                <a:sym typeface="Zcool XiaoWei" panose="00000500000000000000"/>
              </a:rPr>
              <a:t>The</a:t>
            </a:r>
            <a:r>
              <a:rPr lang="en-US" altLang="zh-CN" sz="3600" b="1" spc="32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Zcool XiaoWei" panose="00000500000000000000"/>
                <a:cs typeface="Times New Roman" panose="02020603050405020304" pitchFamily="18" charset="0"/>
                <a:sym typeface="Zcool XiaoWei" panose="00000500000000000000"/>
              </a:rPr>
              <a:t> </a:t>
            </a:r>
            <a:r>
              <a:rPr lang="en-US" altLang="zh-CN" sz="3600" b="1" i="1" spc="32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Zcool XiaoWei" panose="00000500000000000000"/>
                <a:cs typeface="Times New Roman" panose="02020603050405020304" pitchFamily="18" charset="0"/>
                <a:sym typeface="Zcool XiaoWei" panose="00000500000000000000"/>
              </a:rPr>
              <a:t>Fragments of Ancient Greek Historians </a:t>
            </a:r>
            <a:r>
              <a:rPr lang="en-US" altLang="zh-CN" sz="3600" b="1" spc="32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Zcool XiaoWei" panose="00000500000000000000"/>
                <a:cs typeface="Times New Roman" panose="02020603050405020304" pitchFamily="18" charset="0"/>
                <a:sym typeface="Zcool XiaoWei" panose="00000500000000000000"/>
              </a:rPr>
              <a:t>I-III (1923-1958)</a:t>
            </a:r>
          </a:p>
        </p:txBody>
      </p:sp>
      <p:pic>
        <p:nvPicPr>
          <p:cNvPr id="9" name="图片 8" descr="C:/Users/天才鸡尾酒/Downloads/Jacoby.jpegJacoby">
            <a:extLst>
              <a:ext uri="{FF2B5EF4-FFF2-40B4-BE49-F238E27FC236}">
                <a16:creationId xmlns:a16="http://schemas.microsoft.com/office/drawing/2014/main" id="{5F8AC99D-1954-8D83-AA51-E0CA8E2764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52" r="3152"/>
          <a:stretch>
            <a:fillRect/>
          </a:stretch>
        </p:blipFill>
        <p:spPr>
          <a:xfrm>
            <a:off x="3660372" y="2724785"/>
            <a:ext cx="4541520" cy="6457315"/>
          </a:xfrm>
          <a:prstGeom prst="rect">
            <a:avLst/>
          </a:prstGeom>
        </p:spPr>
      </p:pic>
      <p:pic>
        <p:nvPicPr>
          <p:cNvPr id="10" name="图片 9" descr="C:/Users/天才鸡尾酒/Downloads/Die Fragmente der griechischenHistoriker.jpgDie Fragmente der griechischenHistoriker">
            <a:extLst>
              <a:ext uri="{FF2B5EF4-FFF2-40B4-BE49-F238E27FC236}">
                <a16:creationId xmlns:a16="http://schemas.microsoft.com/office/drawing/2014/main" id="{FACEFBE7-97D0-9A36-1C8F-ADAF6EAB50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42" b="1742"/>
          <a:stretch>
            <a:fillRect/>
          </a:stretch>
        </p:blipFill>
        <p:spPr>
          <a:xfrm>
            <a:off x="10058400" y="2705100"/>
            <a:ext cx="445262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637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0B57F-D82C-06E1-5F9E-80D45C642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1C293CCE-5734-4DE9-531F-664B9BC469FD}"/>
              </a:ext>
            </a:extLst>
          </p:cNvPr>
          <p:cNvGrpSpPr/>
          <p:nvPr/>
        </p:nvGrpSpPr>
        <p:grpSpPr>
          <a:xfrm>
            <a:off x="370844" y="0"/>
            <a:ext cx="16690331" cy="1339494"/>
            <a:chOff x="798834" y="500619"/>
            <a:chExt cx="16690331" cy="1339494"/>
          </a:xfrm>
        </p:grpSpPr>
        <p:grpSp>
          <p:nvGrpSpPr>
            <p:cNvPr id="6" name="Group 12">
              <a:extLst>
                <a:ext uri="{FF2B5EF4-FFF2-40B4-BE49-F238E27FC236}">
                  <a16:creationId xmlns:a16="http://schemas.microsoft.com/office/drawing/2014/main" id="{EB3422DF-E83E-AAE0-027A-155A4D207F3D}"/>
                </a:ext>
              </a:extLst>
            </p:cNvPr>
            <p:cNvGrpSpPr/>
            <p:nvPr/>
          </p:nvGrpSpPr>
          <p:grpSpPr>
            <a:xfrm>
              <a:off x="798834" y="500619"/>
              <a:ext cx="16690331" cy="1339494"/>
              <a:chOff x="0" y="0"/>
              <a:chExt cx="4395807" cy="352789"/>
            </a:xfrm>
          </p:grpSpPr>
          <p:sp>
            <p:nvSpPr>
              <p:cNvPr id="12" name="Freeform 13">
                <a:extLst>
                  <a:ext uri="{FF2B5EF4-FFF2-40B4-BE49-F238E27FC236}">
                    <a16:creationId xmlns:a16="http://schemas.microsoft.com/office/drawing/2014/main" id="{F1523C8D-5EAA-A201-C0E3-92FB3936EFA3}"/>
                  </a:ext>
                </a:extLst>
              </p:cNvPr>
              <p:cNvSpPr/>
              <p:nvPr/>
            </p:nvSpPr>
            <p:spPr>
              <a:xfrm>
                <a:off x="0" y="0"/>
                <a:ext cx="4395807" cy="352789"/>
              </a:xfrm>
              <a:custGeom>
                <a:avLst/>
                <a:gdLst/>
                <a:ahLst/>
                <a:cxnLst/>
                <a:rect l="l" t="t" r="r" b="b"/>
                <a:pathLst>
                  <a:path w="4395807" h="352789">
                    <a:moveTo>
                      <a:pt x="0" y="0"/>
                    </a:moveTo>
                    <a:lnTo>
                      <a:pt x="4395807" y="0"/>
                    </a:lnTo>
                    <a:lnTo>
                      <a:pt x="4395807" y="352789"/>
                    </a:lnTo>
                    <a:lnTo>
                      <a:pt x="0" y="35278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9F8F6">
                      <a:alpha val="100000"/>
                    </a:srgbClr>
                  </a:gs>
                  <a:gs pos="100000">
                    <a:srgbClr val="F5F2EB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D3CCB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4">
                <a:extLst>
                  <a:ext uri="{FF2B5EF4-FFF2-40B4-BE49-F238E27FC236}">
                    <a16:creationId xmlns:a16="http://schemas.microsoft.com/office/drawing/2014/main" id="{2DFDCEF1-B977-79EB-C251-954452ADBE1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395807" cy="3908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7" name="Group 16">
              <a:extLst>
                <a:ext uri="{FF2B5EF4-FFF2-40B4-BE49-F238E27FC236}">
                  <a16:creationId xmlns:a16="http://schemas.microsoft.com/office/drawing/2014/main" id="{FF768959-354C-DAC6-061A-062D234381E7}"/>
                </a:ext>
              </a:extLst>
            </p:cNvPr>
            <p:cNvGrpSpPr/>
            <p:nvPr/>
          </p:nvGrpSpPr>
          <p:grpSpPr>
            <a:xfrm>
              <a:off x="798834" y="634855"/>
              <a:ext cx="191766" cy="1205258"/>
              <a:chOff x="0" y="0"/>
              <a:chExt cx="60541" cy="352789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10" name="Freeform 17">
                <a:extLst>
                  <a:ext uri="{FF2B5EF4-FFF2-40B4-BE49-F238E27FC236}">
                    <a16:creationId xmlns:a16="http://schemas.microsoft.com/office/drawing/2014/main" id="{31AD5A4B-5FA9-5A62-1663-74F655A46370}"/>
                  </a:ext>
                </a:extLst>
              </p:cNvPr>
              <p:cNvSpPr/>
              <p:nvPr/>
            </p:nvSpPr>
            <p:spPr>
              <a:xfrm>
                <a:off x="0" y="0"/>
                <a:ext cx="60541" cy="352789"/>
              </a:xfrm>
              <a:custGeom>
                <a:avLst/>
                <a:gdLst/>
                <a:ahLst/>
                <a:cxnLst/>
                <a:rect l="l" t="t" r="r" b="b"/>
                <a:pathLst>
                  <a:path w="60541" h="352789">
                    <a:moveTo>
                      <a:pt x="0" y="0"/>
                    </a:moveTo>
                    <a:lnTo>
                      <a:pt x="60541" y="0"/>
                    </a:lnTo>
                    <a:lnTo>
                      <a:pt x="60541" y="352789"/>
                    </a:lnTo>
                    <a:lnTo>
                      <a:pt x="0" y="352789"/>
                    </a:lnTo>
                    <a:close/>
                  </a:path>
                </a:pathLst>
              </a:custGeom>
              <a:grpFill/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8">
                <a:extLst>
                  <a:ext uri="{FF2B5EF4-FFF2-40B4-BE49-F238E27FC236}">
                    <a16:creationId xmlns:a16="http://schemas.microsoft.com/office/drawing/2014/main" id="{A0852B64-15F5-0AA7-2958-0FF827CF6EA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0541" cy="390889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pic>
        <p:nvPicPr>
          <p:cNvPr id="9" name="图片 8" descr="C:/Users/天才鸡尾酒/Downloads/提取自Jacoby 1909 trans._01.png提取自Jacoby 1909 trans._01">
            <a:extLst>
              <a:ext uri="{FF2B5EF4-FFF2-40B4-BE49-F238E27FC236}">
                <a16:creationId xmlns:a16="http://schemas.microsoft.com/office/drawing/2014/main" id="{B3446121-62B3-38D9-CC96-3D011A373FC7}"/>
              </a:ext>
            </a:extLst>
          </p:cNvPr>
          <p:cNvPicPr>
            <a:picLocks/>
          </p:cNvPicPr>
          <p:nvPr/>
        </p:nvPicPr>
        <p:blipFill>
          <a:blip r:embed="rId2"/>
          <a:srcRect l="15857" t="15778" r="13415" b="15039"/>
          <a:stretch>
            <a:fillRect/>
          </a:stretch>
        </p:blipFill>
        <p:spPr>
          <a:xfrm>
            <a:off x="2221927" y="1028152"/>
            <a:ext cx="6160073" cy="9258848"/>
          </a:xfrm>
          <a:prstGeom prst="rect">
            <a:avLst/>
          </a:prstGeom>
        </p:spPr>
      </p:pic>
      <p:sp>
        <p:nvSpPr>
          <p:cNvPr id="8" name="TextBox 52">
            <a:extLst>
              <a:ext uri="{FF2B5EF4-FFF2-40B4-BE49-F238E27FC236}">
                <a16:creationId xmlns:a16="http://schemas.microsoft.com/office/drawing/2014/main" id="{CF79613D-E25E-EBDE-CA76-3845DF967E81}"/>
              </a:ext>
            </a:extLst>
          </p:cNvPr>
          <p:cNvSpPr txBox="1"/>
          <p:nvPr/>
        </p:nvSpPr>
        <p:spPr>
          <a:xfrm>
            <a:off x="855980" y="254790"/>
            <a:ext cx="16212820" cy="685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CN" sz="3600" b="1" spc="32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Zcool XiaoWei" panose="00000500000000000000"/>
                <a:cs typeface="Times New Roman" panose="02020603050405020304" pitchFamily="18" charset="0"/>
                <a:sym typeface="Zcool XiaoWei" panose="00000500000000000000"/>
              </a:rPr>
              <a:t>Felix Jacoby and </a:t>
            </a:r>
            <a:r>
              <a:rPr lang="en-US" altLang="zh-CN" sz="3600" b="1" i="1" spc="32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Zcool XiaoWei" panose="00000500000000000000"/>
                <a:cs typeface="Times New Roman" panose="02020603050405020304" pitchFamily="18" charset="0"/>
                <a:sym typeface="Zcool XiaoWei" panose="00000500000000000000"/>
              </a:rPr>
              <a:t>The</a:t>
            </a:r>
            <a:r>
              <a:rPr lang="en-US" altLang="zh-CN" sz="3600" b="1" spc="32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Zcool XiaoWei" panose="00000500000000000000"/>
                <a:cs typeface="Times New Roman" panose="02020603050405020304" pitchFamily="18" charset="0"/>
                <a:sym typeface="Zcool XiaoWei" panose="00000500000000000000"/>
              </a:rPr>
              <a:t> </a:t>
            </a:r>
            <a:r>
              <a:rPr lang="en-US" altLang="zh-CN" sz="3600" b="1" i="1" spc="32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Zcool XiaoWei" panose="00000500000000000000"/>
                <a:cs typeface="Times New Roman" panose="02020603050405020304" pitchFamily="18" charset="0"/>
                <a:sym typeface="Zcool XiaoWei" panose="00000500000000000000"/>
              </a:rPr>
              <a:t>Fragments of Ancient Greek Historians </a:t>
            </a:r>
            <a:r>
              <a:rPr lang="en-US" altLang="zh-CN" sz="3600" b="1" spc="32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Zcool XiaoWei" panose="00000500000000000000"/>
                <a:cs typeface="Times New Roman" panose="02020603050405020304" pitchFamily="18" charset="0"/>
                <a:sym typeface="Zcool XiaoWei" panose="00000500000000000000"/>
              </a:rPr>
              <a:t>I-III</a:t>
            </a:r>
            <a:r>
              <a:rPr lang="en-US" altLang="zh-CN" sz="3600" b="1" i="1" spc="32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Zcool XiaoWei" panose="00000500000000000000"/>
                <a:cs typeface="Times New Roman" panose="02020603050405020304" pitchFamily="18" charset="0"/>
                <a:sym typeface="Zcool XiaoWei" panose="00000500000000000000"/>
              </a:rPr>
              <a:t> </a:t>
            </a:r>
            <a:r>
              <a:rPr lang="en-US" altLang="zh-CN" sz="3600" b="1" spc="32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Zcool XiaoWei" panose="00000500000000000000"/>
                <a:cs typeface="Times New Roman" panose="02020603050405020304" pitchFamily="18" charset="0"/>
                <a:sym typeface="Zcool XiaoWei" panose="00000500000000000000"/>
              </a:rPr>
              <a:t>(1923-1958)</a:t>
            </a:r>
          </a:p>
        </p:txBody>
      </p:sp>
      <p:pic>
        <p:nvPicPr>
          <p:cNvPr id="4" name="图片 3" descr="C:/Users/天才鸡尾酒/Downloads/提取自Jacoby 1909 trans._02.png提取自Jacoby 1909 trans._02">
            <a:extLst>
              <a:ext uri="{FF2B5EF4-FFF2-40B4-BE49-F238E27FC236}">
                <a16:creationId xmlns:a16="http://schemas.microsoft.com/office/drawing/2014/main" id="{2B1D4C83-F37D-35DA-6B74-3E5B9F84C6AC}"/>
              </a:ext>
            </a:extLst>
          </p:cNvPr>
          <p:cNvPicPr>
            <a:picLocks/>
          </p:cNvPicPr>
          <p:nvPr/>
        </p:nvPicPr>
        <p:blipFill>
          <a:blip r:embed="rId3"/>
          <a:srcRect l="18671" t="11411" r="15865" b="17778"/>
          <a:stretch>
            <a:fillRect/>
          </a:stretch>
        </p:blipFill>
        <p:spPr>
          <a:xfrm>
            <a:off x="9372600" y="1028152"/>
            <a:ext cx="6160073" cy="925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223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18D45-607C-649F-5AC0-20F119615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3F774E9F-EB22-E2CB-FB61-A1859DA67295}"/>
              </a:ext>
            </a:extLst>
          </p:cNvPr>
          <p:cNvGrpSpPr/>
          <p:nvPr/>
        </p:nvGrpSpPr>
        <p:grpSpPr>
          <a:xfrm>
            <a:off x="364614" y="0"/>
            <a:ext cx="16690331" cy="1339494"/>
            <a:chOff x="798834" y="500619"/>
            <a:chExt cx="16690331" cy="1339494"/>
          </a:xfrm>
        </p:grpSpPr>
        <p:grpSp>
          <p:nvGrpSpPr>
            <p:cNvPr id="9" name="Group 12">
              <a:extLst>
                <a:ext uri="{FF2B5EF4-FFF2-40B4-BE49-F238E27FC236}">
                  <a16:creationId xmlns:a16="http://schemas.microsoft.com/office/drawing/2014/main" id="{0A2D18C5-17B7-7767-7753-00D74D40C3A2}"/>
                </a:ext>
              </a:extLst>
            </p:cNvPr>
            <p:cNvGrpSpPr/>
            <p:nvPr/>
          </p:nvGrpSpPr>
          <p:grpSpPr>
            <a:xfrm>
              <a:off x="798834" y="500619"/>
              <a:ext cx="16690331" cy="1339494"/>
              <a:chOff x="0" y="0"/>
              <a:chExt cx="4395807" cy="3527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8BDAA4B4-7282-7371-4F75-848FC3EEB4D2}"/>
                  </a:ext>
                </a:extLst>
              </p:cNvPr>
              <p:cNvSpPr/>
              <p:nvPr/>
            </p:nvSpPr>
            <p:spPr>
              <a:xfrm>
                <a:off x="0" y="0"/>
                <a:ext cx="4395807" cy="352789"/>
              </a:xfrm>
              <a:custGeom>
                <a:avLst/>
                <a:gdLst/>
                <a:ahLst/>
                <a:cxnLst/>
                <a:rect l="l" t="t" r="r" b="b"/>
                <a:pathLst>
                  <a:path w="4395807" h="352789">
                    <a:moveTo>
                      <a:pt x="0" y="0"/>
                    </a:moveTo>
                    <a:lnTo>
                      <a:pt x="4395807" y="0"/>
                    </a:lnTo>
                    <a:lnTo>
                      <a:pt x="4395807" y="352789"/>
                    </a:lnTo>
                    <a:lnTo>
                      <a:pt x="0" y="35278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9F8F6">
                      <a:alpha val="100000"/>
                    </a:srgbClr>
                  </a:gs>
                  <a:gs pos="100000">
                    <a:srgbClr val="F5F2EB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D3CCB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3A513A53-917B-1C3E-FC30-7F40EB178A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395807" cy="3908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0" name="Group 16">
              <a:extLst>
                <a:ext uri="{FF2B5EF4-FFF2-40B4-BE49-F238E27FC236}">
                  <a16:creationId xmlns:a16="http://schemas.microsoft.com/office/drawing/2014/main" id="{6B92E6CE-D3C5-C839-0767-F1A52216C631}"/>
                </a:ext>
              </a:extLst>
            </p:cNvPr>
            <p:cNvGrpSpPr/>
            <p:nvPr/>
          </p:nvGrpSpPr>
          <p:grpSpPr>
            <a:xfrm>
              <a:off x="798834" y="634855"/>
              <a:ext cx="191766" cy="1205258"/>
              <a:chOff x="0" y="0"/>
              <a:chExt cx="60541" cy="352789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11" name="Freeform 17">
                <a:extLst>
                  <a:ext uri="{FF2B5EF4-FFF2-40B4-BE49-F238E27FC236}">
                    <a16:creationId xmlns:a16="http://schemas.microsoft.com/office/drawing/2014/main" id="{8C1A397D-90D3-6C58-FDEA-382E84B607D7}"/>
                  </a:ext>
                </a:extLst>
              </p:cNvPr>
              <p:cNvSpPr/>
              <p:nvPr/>
            </p:nvSpPr>
            <p:spPr>
              <a:xfrm>
                <a:off x="0" y="0"/>
                <a:ext cx="60541" cy="352789"/>
              </a:xfrm>
              <a:custGeom>
                <a:avLst/>
                <a:gdLst/>
                <a:ahLst/>
                <a:cxnLst/>
                <a:rect l="l" t="t" r="r" b="b"/>
                <a:pathLst>
                  <a:path w="60541" h="352789">
                    <a:moveTo>
                      <a:pt x="0" y="0"/>
                    </a:moveTo>
                    <a:lnTo>
                      <a:pt x="60541" y="0"/>
                    </a:lnTo>
                    <a:lnTo>
                      <a:pt x="60541" y="352789"/>
                    </a:lnTo>
                    <a:lnTo>
                      <a:pt x="0" y="352789"/>
                    </a:lnTo>
                    <a:close/>
                  </a:path>
                </a:pathLst>
              </a:custGeom>
              <a:grpFill/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8">
                <a:extLst>
                  <a:ext uri="{FF2B5EF4-FFF2-40B4-BE49-F238E27FC236}">
                    <a16:creationId xmlns:a16="http://schemas.microsoft.com/office/drawing/2014/main" id="{DD8E04E9-B5C9-7D23-EABD-9AE4A8612F0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0541" cy="390889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pic>
        <p:nvPicPr>
          <p:cNvPr id="6" name="图片 5" descr="C:/Users/天才鸡尾酒/Downloads/提取自Jacoby 1909 trans.(1)_01.png提取自Jacoby 1909 trans.(1)_01">
            <a:extLst>
              <a:ext uri="{FF2B5EF4-FFF2-40B4-BE49-F238E27FC236}">
                <a16:creationId xmlns:a16="http://schemas.microsoft.com/office/drawing/2014/main" id="{EBFCC04D-F3E9-8097-5844-04E9F325E23F}"/>
              </a:ext>
            </a:extLst>
          </p:cNvPr>
          <p:cNvPicPr>
            <a:picLocks/>
          </p:cNvPicPr>
          <p:nvPr/>
        </p:nvPicPr>
        <p:blipFill>
          <a:blip r:embed="rId3"/>
          <a:srcRect l="19734" t="11726" r="14708" b="16932"/>
          <a:stretch>
            <a:fillRect/>
          </a:stretch>
        </p:blipFill>
        <p:spPr>
          <a:xfrm>
            <a:off x="2590799" y="1194832"/>
            <a:ext cx="6149919" cy="9128413"/>
          </a:xfrm>
          <a:prstGeom prst="rect">
            <a:avLst/>
          </a:prstGeom>
        </p:spPr>
      </p:pic>
      <p:sp>
        <p:nvSpPr>
          <p:cNvPr id="5" name="TextBox 52">
            <a:extLst>
              <a:ext uri="{FF2B5EF4-FFF2-40B4-BE49-F238E27FC236}">
                <a16:creationId xmlns:a16="http://schemas.microsoft.com/office/drawing/2014/main" id="{BB068084-EB64-E74E-9DCC-41425606266A}"/>
              </a:ext>
            </a:extLst>
          </p:cNvPr>
          <p:cNvSpPr txBox="1"/>
          <p:nvPr/>
        </p:nvSpPr>
        <p:spPr>
          <a:xfrm>
            <a:off x="842125" y="254790"/>
            <a:ext cx="16212820" cy="685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altLang="zh-CN" sz="3600" b="1" spc="32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Zcool XiaoWei" panose="00000500000000000000"/>
                <a:cs typeface="Times New Roman" panose="02020603050405020304" pitchFamily="18" charset="0"/>
                <a:sym typeface="Zcool XiaoWei" panose="00000500000000000000"/>
              </a:rPr>
              <a:t>Felix Jacoby and </a:t>
            </a:r>
            <a:r>
              <a:rPr lang="en-US" altLang="zh-CN" sz="3600" b="1" i="1" spc="32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Zcool XiaoWei" panose="00000500000000000000"/>
                <a:cs typeface="Times New Roman" panose="02020603050405020304" pitchFamily="18" charset="0"/>
                <a:sym typeface="Zcool XiaoWei" panose="00000500000000000000"/>
              </a:rPr>
              <a:t>Die </a:t>
            </a:r>
            <a:r>
              <a:rPr lang="en-US" altLang="zh-CN" sz="3600" b="1" i="1" spc="32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Zcool XiaoWei" panose="00000500000000000000"/>
                <a:cs typeface="Times New Roman" panose="02020603050405020304" pitchFamily="18" charset="0"/>
                <a:sym typeface="Zcool XiaoWei" panose="00000500000000000000"/>
              </a:rPr>
              <a:t>Fragmente</a:t>
            </a:r>
            <a:r>
              <a:rPr lang="en-US" altLang="zh-CN" sz="3600" b="1" i="1" spc="32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Zcool XiaoWei" panose="00000500000000000000"/>
                <a:cs typeface="Times New Roman" panose="02020603050405020304" pitchFamily="18" charset="0"/>
                <a:sym typeface="Zcool XiaoWei" panose="00000500000000000000"/>
              </a:rPr>
              <a:t> der </a:t>
            </a:r>
            <a:r>
              <a:rPr lang="en-US" altLang="zh-CN" sz="3600" b="1" i="1" spc="32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Zcool XiaoWei" panose="00000500000000000000"/>
                <a:cs typeface="Times New Roman" panose="02020603050405020304" pitchFamily="18" charset="0"/>
                <a:sym typeface="Zcool XiaoWei" panose="00000500000000000000"/>
              </a:rPr>
              <a:t>griechischen</a:t>
            </a:r>
            <a:r>
              <a:rPr lang="en-US" altLang="zh-CN" sz="3600" b="1" i="1" spc="32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Zcool XiaoWei" panose="00000500000000000000"/>
                <a:cs typeface="Times New Roman" panose="02020603050405020304" pitchFamily="18" charset="0"/>
                <a:sym typeface="Zcool XiaoWei" panose="00000500000000000000"/>
              </a:rPr>
              <a:t> </a:t>
            </a:r>
            <a:r>
              <a:rPr lang="en-US" altLang="zh-CN" sz="3600" b="1" i="1" spc="32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Zcool XiaoWei" panose="00000500000000000000"/>
                <a:cs typeface="Times New Roman" panose="02020603050405020304" pitchFamily="18" charset="0"/>
                <a:sym typeface="Zcool XiaoWei" panose="00000500000000000000"/>
              </a:rPr>
              <a:t>Historiker</a:t>
            </a:r>
            <a:r>
              <a:rPr lang="en-US" altLang="zh-CN" sz="3600" b="1" spc="32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Zcool XiaoWei" panose="00000500000000000000"/>
                <a:cs typeface="Times New Roman" panose="02020603050405020304" pitchFamily="18" charset="0"/>
                <a:sym typeface="Zcool XiaoWei" panose="00000500000000000000"/>
              </a:rPr>
              <a:t> I-III (1923-1958)</a:t>
            </a:r>
          </a:p>
        </p:txBody>
      </p:sp>
      <p:pic>
        <p:nvPicPr>
          <p:cNvPr id="7" name="图片 6" descr="C:/Users/天才鸡尾酒/Downloads/提取自Jacoby 1909 trans.(1)_02.png提取自Jacoby 1909 trans.(1)_02">
            <a:extLst>
              <a:ext uri="{FF2B5EF4-FFF2-40B4-BE49-F238E27FC236}">
                <a16:creationId xmlns:a16="http://schemas.microsoft.com/office/drawing/2014/main" id="{A2A70137-5A05-A7E4-E98C-6C5F76192B86}"/>
              </a:ext>
            </a:extLst>
          </p:cNvPr>
          <p:cNvPicPr>
            <a:picLocks/>
          </p:cNvPicPr>
          <p:nvPr/>
        </p:nvPicPr>
        <p:blipFill>
          <a:blip r:embed="rId4"/>
          <a:srcRect l="16765" t="9981" r="17887" b="21636"/>
          <a:stretch>
            <a:fillRect/>
          </a:stretch>
        </p:blipFill>
        <p:spPr>
          <a:xfrm>
            <a:off x="9547282" y="1158587"/>
            <a:ext cx="6530918" cy="912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67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76DA4-93AD-B30A-0A44-10E16D56B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ACE5A1FB-1C78-243B-AEB8-5AE4BF3E8D98}"/>
              </a:ext>
            </a:extLst>
          </p:cNvPr>
          <p:cNvGrpSpPr/>
          <p:nvPr/>
        </p:nvGrpSpPr>
        <p:grpSpPr>
          <a:xfrm>
            <a:off x="798834" y="500619"/>
            <a:ext cx="16727166" cy="1213881"/>
            <a:chOff x="798834" y="500619"/>
            <a:chExt cx="16690331" cy="1339494"/>
          </a:xfrm>
        </p:grpSpPr>
        <p:grpSp>
          <p:nvGrpSpPr>
            <p:cNvPr id="9" name="Group 12">
              <a:extLst>
                <a:ext uri="{FF2B5EF4-FFF2-40B4-BE49-F238E27FC236}">
                  <a16:creationId xmlns:a16="http://schemas.microsoft.com/office/drawing/2014/main" id="{D03CB814-FEDD-82FF-E3C0-BBBA558AB802}"/>
                </a:ext>
              </a:extLst>
            </p:cNvPr>
            <p:cNvGrpSpPr/>
            <p:nvPr/>
          </p:nvGrpSpPr>
          <p:grpSpPr>
            <a:xfrm>
              <a:off x="798834" y="500619"/>
              <a:ext cx="16690331" cy="1339494"/>
              <a:chOff x="0" y="0"/>
              <a:chExt cx="4395807" cy="352789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6AEBF0E4-DD06-4D49-612F-A82721A18083}"/>
                  </a:ext>
                </a:extLst>
              </p:cNvPr>
              <p:cNvSpPr/>
              <p:nvPr/>
            </p:nvSpPr>
            <p:spPr>
              <a:xfrm>
                <a:off x="0" y="0"/>
                <a:ext cx="4395807" cy="352789"/>
              </a:xfrm>
              <a:custGeom>
                <a:avLst/>
                <a:gdLst/>
                <a:ahLst/>
                <a:cxnLst/>
                <a:rect l="l" t="t" r="r" b="b"/>
                <a:pathLst>
                  <a:path w="4395807" h="352789">
                    <a:moveTo>
                      <a:pt x="0" y="0"/>
                    </a:moveTo>
                    <a:lnTo>
                      <a:pt x="4395807" y="0"/>
                    </a:lnTo>
                    <a:lnTo>
                      <a:pt x="4395807" y="352789"/>
                    </a:lnTo>
                    <a:lnTo>
                      <a:pt x="0" y="35278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9F8F6">
                      <a:alpha val="100000"/>
                    </a:srgbClr>
                  </a:gs>
                  <a:gs pos="100000">
                    <a:srgbClr val="F5F2EB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D3CCB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E75C04A0-95C2-8309-8361-AE40BBFCEB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395807" cy="3908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0" name="Group 16">
              <a:extLst>
                <a:ext uri="{FF2B5EF4-FFF2-40B4-BE49-F238E27FC236}">
                  <a16:creationId xmlns:a16="http://schemas.microsoft.com/office/drawing/2014/main" id="{757D4FEA-CD4D-FE3F-4650-CDD8AA1EA0EF}"/>
                </a:ext>
              </a:extLst>
            </p:cNvPr>
            <p:cNvGrpSpPr/>
            <p:nvPr/>
          </p:nvGrpSpPr>
          <p:grpSpPr>
            <a:xfrm>
              <a:off x="798834" y="634855"/>
              <a:ext cx="191766" cy="1205258"/>
              <a:chOff x="0" y="0"/>
              <a:chExt cx="60541" cy="352789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11" name="Freeform 17">
                <a:extLst>
                  <a:ext uri="{FF2B5EF4-FFF2-40B4-BE49-F238E27FC236}">
                    <a16:creationId xmlns:a16="http://schemas.microsoft.com/office/drawing/2014/main" id="{CB47E8FC-1ACD-A2E0-FBCE-5E1E331E0AFB}"/>
                  </a:ext>
                </a:extLst>
              </p:cNvPr>
              <p:cNvSpPr/>
              <p:nvPr/>
            </p:nvSpPr>
            <p:spPr>
              <a:xfrm>
                <a:off x="0" y="0"/>
                <a:ext cx="60541" cy="352789"/>
              </a:xfrm>
              <a:custGeom>
                <a:avLst/>
                <a:gdLst/>
                <a:ahLst/>
                <a:cxnLst/>
                <a:rect l="l" t="t" r="r" b="b"/>
                <a:pathLst>
                  <a:path w="60541" h="352789">
                    <a:moveTo>
                      <a:pt x="0" y="0"/>
                    </a:moveTo>
                    <a:lnTo>
                      <a:pt x="60541" y="0"/>
                    </a:lnTo>
                    <a:lnTo>
                      <a:pt x="60541" y="352789"/>
                    </a:lnTo>
                    <a:lnTo>
                      <a:pt x="0" y="352789"/>
                    </a:lnTo>
                    <a:close/>
                  </a:path>
                </a:pathLst>
              </a:custGeom>
              <a:grpFill/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8">
                <a:extLst>
                  <a:ext uri="{FF2B5EF4-FFF2-40B4-BE49-F238E27FC236}">
                    <a16:creationId xmlns:a16="http://schemas.microsoft.com/office/drawing/2014/main" id="{9E5BF144-507E-BAC0-6371-9D4C038000D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0541" cy="390889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5" name="TextBox 52">
            <a:extLst>
              <a:ext uri="{FF2B5EF4-FFF2-40B4-BE49-F238E27FC236}">
                <a16:creationId xmlns:a16="http://schemas.microsoft.com/office/drawing/2014/main" id="{B7028B9C-65EC-06E6-0E7C-C2F01EA959B7}"/>
              </a:ext>
            </a:extLst>
          </p:cNvPr>
          <p:cNvSpPr txBox="1"/>
          <p:nvPr/>
        </p:nvSpPr>
        <p:spPr>
          <a:xfrm>
            <a:off x="1447800" y="692616"/>
            <a:ext cx="6551059" cy="685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altLang="zh-CN" sz="3600" b="1" spc="32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Zcool XiaoWei" panose="00000500000000000000"/>
                <a:cs typeface="Times New Roman" panose="02020603050405020304" pitchFamily="18" charset="0"/>
                <a:sym typeface="Zcool XiaoWei" panose="00000500000000000000"/>
              </a:rPr>
              <a:t>Guido Schepens’ Interpretation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CE28761-13E7-AC21-BC64-E1897596C3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903033"/>
            <a:ext cx="8484172" cy="604642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DAEF761-18EC-E5D8-37B8-D1E45292FD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78" y="1910916"/>
            <a:ext cx="2720833" cy="40496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DEA7252-A5BE-C281-C2CD-0F5949CB0B65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3" t="12045" r="14056" b="8630"/>
          <a:stretch>
            <a:fillRect/>
          </a:stretch>
        </p:blipFill>
        <p:spPr>
          <a:xfrm>
            <a:off x="10937741" y="369524"/>
            <a:ext cx="7045036" cy="977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022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CA04F-0EC7-5989-9AB4-3D16C4765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8E540EDF-DF78-9B55-1BDB-5ACB4F12CA2A}"/>
              </a:ext>
            </a:extLst>
          </p:cNvPr>
          <p:cNvGrpSpPr/>
          <p:nvPr/>
        </p:nvGrpSpPr>
        <p:grpSpPr>
          <a:xfrm>
            <a:off x="798834" y="500619"/>
            <a:ext cx="16690331" cy="1339494"/>
            <a:chOff x="798834" y="500619"/>
            <a:chExt cx="16690331" cy="133949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ADDB68D-3E16-20B4-C180-C30E97F2585F}"/>
                </a:ext>
              </a:extLst>
            </p:cNvPr>
            <p:cNvGrpSpPr/>
            <p:nvPr/>
          </p:nvGrpSpPr>
          <p:grpSpPr>
            <a:xfrm>
              <a:off x="798834" y="500619"/>
              <a:ext cx="16690331" cy="1339494"/>
              <a:chOff x="0" y="0"/>
              <a:chExt cx="4395807" cy="352789"/>
            </a:xfrm>
          </p:grpSpPr>
          <p:sp>
            <p:nvSpPr>
              <p:cNvPr id="17" name="Freeform 13">
                <a:extLst>
                  <a:ext uri="{FF2B5EF4-FFF2-40B4-BE49-F238E27FC236}">
                    <a16:creationId xmlns:a16="http://schemas.microsoft.com/office/drawing/2014/main" id="{D4483DE8-1277-6955-51CD-B028BA1EE477}"/>
                  </a:ext>
                </a:extLst>
              </p:cNvPr>
              <p:cNvSpPr/>
              <p:nvPr/>
            </p:nvSpPr>
            <p:spPr>
              <a:xfrm>
                <a:off x="0" y="0"/>
                <a:ext cx="4395807" cy="352789"/>
              </a:xfrm>
              <a:custGeom>
                <a:avLst/>
                <a:gdLst/>
                <a:ahLst/>
                <a:cxnLst/>
                <a:rect l="l" t="t" r="r" b="b"/>
                <a:pathLst>
                  <a:path w="4395807" h="352789">
                    <a:moveTo>
                      <a:pt x="0" y="0"/>
                    </a:moveTo>
                    <a:lnTo>
                      <a:pt x="4395807" y="0"/>
                    </a:lnTo>
                    <a:lnTo>
                      <a:pt x="4395807" y="352789"/>
                    </a:lnTo>
                    <a:lnTo>
                      <a:pt x="0" y="35278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9F8F6">
                      <a:alpha val="100000"/>
                    </a:srgbClr>
                  </a:gs>
                  <a:gs pos="100000">
                    <a:srgbClr val="F5F2EB">
                      <a:alpha val="100000"/>
                    </a:srgbClr>
                  </a:gs>
                </a:gsLst>
                <a:lin ang="0"/>
              </a:gradFill>
              <a:ln w="19050" cap="sq">
                <a:solidFill>
                  <a:srgbClr val="D3CCB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4">
                <a:extLst>
                  <a:ext uri="{FF2B5EF4-FFF2-40B4-BE49-F238E27FC236}">
                    <a16:creationId xmlns:a16="http://schemas.microsoft.com/office/drawing/2014/main" id="{7761D86A-7833-D8E6-3CA5-172AC59DDD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395807" cy="3908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6">
              <a:extLst>
                <a:ext uri="{FF2B5EF4-FFF2-40B4-BE49-F238E27FC236}">
                  <a16:creationId xmlns:a16="http://schemas.microsoft.com/office/drawing/2014/main" id="{35CD4282-054C-DFB9-A5C1-BB1E2CBCB7B5}"/>
                </a:ext>
              </a:extLst>
            </p:cNvPr>
            <p:cNvGrpSpPr/>
            <p:nvPr/>
          </p:nvGrpSpPr>
          <p:grpSpPr>
            <a:xfrm>
              <a:off x="798834" y="634855"/>
              <a:ext cx="191766" cy="1205258"/>
              <a:chOff x="0" y="0"/>
              <a:chExt cx="60541" cy="352789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15" name="Freeform 17">
                <a:extLst>
                  <a:ext uri="{FF2B5EF4-FFF2-40B4-BE49-F238E27FC236}">
                    <a16:creationId xmlns:a16="http://schemas.microsoft.com/office/drawing/2014/main" id="{31D21E5C-DE63-90ED-CA15-19E16CBADB62}"/>
                  </a:ext>
                </a:extLst>
              </p:cNvPr>
              <p:cNvSpPr/>
              <p:nvPr/>
            </p:nvSpPr>
            <p:spPr>
              <a:xfrm>
                <a:off x="0" y="0"/>
                <a:ext cx="60541" cy="352789"/>
              </a:xfrm>
              <a:custGeom>
                <a:avLst/>
                <a:gdLst/>
                <a:ahLst/>
                <a:cxnLst/>
                <a:rect l="l" t="t" r="r" b="b"/>
                <a:pathLst>
                  <a:path w="60541" h="352789">
                    <a:moveTo>
                      <a:pt x="0" y="0"/>
                    </a:moveTo>
                    <a:lnTo>
                      <a:pt x="60541" y="0"/>
                    </a:lnTo>
                    <a:lnTo>
                      <a:pt x="60541" y="352789"/>
                    </a:lnTo>
                    <a:lnTo>
                      <a:pt x="0" y="352789"/>
                    </a:lnTo>
                    <a:close/>
                  </a:path>
                </a:pathLst>
              </a:custGeom>
              <a:grpFill/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8">
                <a:extLst>
                  <a:ext uri="{FF2B5EF4-FFF2-40B4-BE49-F238E27FC236}">
                    <a16:creationId xmlns:a16="http://schemas.microsoft.com/office/drawing/2014/main" id="{49BB103D-5EC1-1126-1C1D-87B00DE5335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60541" cy="390889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" name="TextBox 52">
            <a:extLst>
              <a:ext uri="{FF2B5EF4-FFF2-40B4-BE49-F238E27FC236}">
                <a16:creationId xmlns:a16="http://schemas.microsoft.com/office/drawing/2014/main" id="{4C0870A0-40DF-F975-6F39-E780DC477B8D}"/>
              </a:ext>
            </a:extLst>
          </p:cNvPr>
          <p:cNvSpPr txBox="1"/>
          <p:nvPr/>
        </p:nvSpPr>
        <p:spPr>
          <a:xfrm>
            <a:off x="1447800" y="800100"/>
            <a:ext cx="16212820" cy="7093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altLang="zh-CN" sz="3600" b="1" spc="32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  <a:sym typeface="Zcool XiaoWei" panose="00000500000000000000"/>
              </a:rPr>
              <a:t>Ancient Greek Local (or Polis) Histories</a:t>
            </a:r>
          </a:p>
        </p:txBody>
      </p:sp>
      <p:pic>
        <p:nvPicPr>
          <p:cNvPr id="3" name="图片 2" descr="C:/Users/天才鸡尾酒/Downloads/Atthis.jpgAtthis">
            <a:extLst>
              <a:ext uri="{FF2B5EF4-FFF2-40B4-BE49-F238E27FC236}">
                <a16:creationId xmlns:a16="http://schemas.microsoft.com/office/drawing/2014/main" id="{E89C6673-F8C8-5C8B-847C-8B0B6ED2A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3" r="5573"/>
          <a:stretch>
            <a:fillRect/>
          </a:stretch>
        </p:blipFill>
        <p:spPr>
          <a:xfrm>
            <a:off x="1397635" y="2628900"/>
            <a:ext cx="4404360" cy="6608445"/>
          </a:xfrm>
          <a:prstGeom prst="rect">
            <a:avLst/>
          </a:prstGeom>
        </p:spPr>
      </p:pic>
      <p:pic>
        <p:nvPicPr>
          <p:cNvPr id="4" name="图片 3" descr="C:/Users/天才鸡尾酒/Downloads/Clarke 2008.jpgClarke 2008">
            <a:extLst>
              <a:ext uri="{FF2B5EF4-FFF2-40B4-BE49-F238E27FC236}">
                <a16:creationId xmlns:a16="http://schemas.microsoft.com/office/drawing/2014/main" id="{5F19C39A-30A8-CDB7-0436-C1E9137F7C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41" b="5041"/>
          <a:stretch>
            <a:fillRect/>
          </a:stretch>
        </p:blipFill>
        <p:spPr>
          <a:xfrm>
            <a:off x="6663055" y="2628900"/>
            <a:ext cx="4622800" cy="6593840"/>
          </a:xfrm>
          <a:prstGeom prst="rect">
            <a:avLst/>
          </a:prstGeom>
        </p:spPr>
      </p:pic>
      <p:pic>
        <p:nvPicPr>
          <p:cNvPr id="5" name="图片 4" descr="C:/Users/天才鸡尾酒/Downloads/图片1.png图片1">
            <a:extLst>
              <a:ext uri="{FF2B5EF4-FFF2-40B4-BE49-F238E27FC236}">
                <a16:creationId xmlns:a16="http://schemas.microsoft.com/office/drawing/2014/main" id="{43B112C2-99FA-C094-8119-641401B79A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4" b="454"/>
          <a:stretch>
            <a:fillRect/>
          </a:stretch>
        </p:blipFill>
        <p:spPr>
          <a:xfrm>
            <a:off x="12127230" y="2628900"/>
            <a:ext cx="4409440" cy="663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993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6AC319-2138-7EDA-701E-4670A2022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A21FDB9-C5C3-2BEA-6F09-8F17E2F3E9F7}"/>
              </a:ext>
            </a:extLst>
          </p:cNvPr>
          <p:cNvSpPr/>
          <p:nvPr/>
        </p:nvSpPr>
        <p:spPr>
          <a:xfrm>
            <a:off x="4495800" y="6804261"/>
            <a:ext cx="9296400" cy="571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387"/>
              </a:lnSpc>
            </a:pPr>
            <a:r>
              <a:rPr lang="en-US" altLang="zh-CN" sz="44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字由点字小隶书" panose="00020600040101010101" charset="-122"/>
                <a:cs typeface="Times New Roman" panose="02020603050405020304" pitchFamily="18" charset="0"/>
                <a:sym typeface="字由点字小隶书" panose="00020600040101010101" charset="-122"/>
              </a:rPr>
              <a:t>Contact:  ruobingxian@fudan.edu.cn</a:t>
            </a:r>
          </a:p>
        </p:txBody>
      </p:sp>
      <p:sp>
        <p:nvSpPr>
          <p:cNvPr id="3" name="TextBox 37">
            <a:extLst>
              <a:ext uri="{FF2B5EF4-FFF2-40B4-BE49-F238E27FC236}">
                <a16:creationId xmlns:a16="http://schemas.microsoft.com/office/drawing/2014/main" id="{A1928FFA-39B2-99C0-813D-07DCAC359427}"/>
              </a:ext>
            </a:extLst>
          </p:cNvPr>
          <p:cNvSpPr txBox="1"/>
          <p:nvPr/>
        </p:nvSpPr>
        <p:spPr>
          <a:xfrm>
            <a:off x="2923025" y="3366707"/>
            <a:ext cx="12649200" cy="1354217"/>
          </a:xfrm>
          <a:prstGeom prst="rect">
            <a:avLst/>
          </a:prstGeom>
          <a:effectLst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 spc="21" dirty="0">
                <a:solidFill>
                  <a:srgbClr val="413D38"/>
                </a:solidFill>
                <a:latin typeface="Times New Roman" panose="02020603050405020304" pitchFamily="18" charset="0"/>
                <a:ea typeface="思源宋体 Bold" panose="02020700000000000000" charset="-122"/>
                <a:cs typeface="Times New Roman" panose="02020603050405020304" pitchFamily="18" charset="0"/>
                <a:sym typeface="思源宋体 Bold" panose="02020700000000000000" charset="-122"/>
              </a:rPr>
              <a:t>Thanks for your attention</a:t>
            </a:r>
            <a:r>
              <a:rPr lang="zh-CN" altLang="en-US" sz="8800" b="1" spc="21" dirty="0">
                <a:solidFill>
                  <a:srgbClr val="413D38"/>
                </a:solidFill>
                <a:latin typeface="Times New Roman" panose="02020603050405020304" pitchFamily="18" charset="0"/>
                <a:ea typeface="思源宋体 Bold" panose="02020700000000000000" charset="-122"/>
                <a:cs typeface="Times New Roman" panose="02020603050405020304" pitchFamily="18" charset="0"/>
                <a:sym typeface="思源宋体 Bold" panose="02020700000000000000" charset="-122"/>
              </a:rPr>
              <a:t>！</a:t>
            </a:r>
          </a:p>
        </p:txBody>
      </p:sp>
      <p:sp>
        <p:nvSpPr>
          <p:cNvPr id="17" name="AutoShape 8">
            <a:extLst>
              <a:ext uri="{FF2B5EF4-FFF2-40B4-BE49-F238E27FC236}">
                <a16:creationId xmlns:a16="http://schemas.microsoft.com/office/drawing/2014/main" id="{9F0505F3-984F-9FAD-7BCB-DFB3FB43EA0C}"/>
              </a:ext>
            </a:extLst>
          </p:cNvPr>
          <p:cNvSpPr/>
          <p:nvPr/>
        </p:nvSpPr>
        <p:spPr>
          <a:xfrm>
            <a:off x="5999018" y="5905500"/>
            <a:ext cx="626745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332821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6879</TotalTime>
  <Words>138</Words>
  <Application>Microsoft Macintosh PowerPoint</Application>
  <PresentationFormat>Custom</PresentationFormat>
  <Paragraphs>22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Times New Roman</vt:lpstr>
      <vt:lpstr>等线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浅色极简商业计划书ppt演示文稿</dc:title>
  <cp:lastModifiedBy>Microsoft Office User</cp:lastModifiedBy>
  <cp:revision>9</cp:revision>
  <dcterms:created xsi:type="dcterms:W3CDTF">2006-08-16T00:00:00Z</dcterms:created>
  <dcterms:modified xsi:type="dcterms:W3CDTF">2026-03-17T03:14:07Z</dcterms:modified>
  <dc:identifier>DAHDtcZJwEs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{"Label":"1","ContentProducer":"001191110105MA01AN806X00000","ProduceID":"DAHDtcZJwEs","ReservedCode1":"","ContentPropagator":"001191110105MA01AN806X00000","PropagateID":"DAHDtcZJwEs","ReservedCode2":""}</vt:lpwstr>
  </property>
</Properties>
</file>