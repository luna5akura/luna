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6" autoAdjust="0"/>
  </p:normalViewPr>
  <p:slideViewPr>
    <p:cSldViewPr>
      <p:cViewPr varScale="1">
        <p:scale>
          <a:sx n="79" d="100"/>
          <a:sy n="79" d="100"/>
        </p:scale>
        <p:origin x="264" y="3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AC56DCCB-2EF9-55EA-5C01-AF8200350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95" y="3422452"/>
            <a:ext cx="14483207" cy="34156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5A3DA46-5C7C-293D-4382-7B35D65E4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619" y="8190707"/>
            <a:ext cx="4656762" cy="836762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CAFDE95D-6D4F-6943-2C70-F9495F637547}"/>
              </a:ext>
            </a:extLst>
          </p:cNvPr>
          <p:cNvSpPr txBox="1"/>
          <p:nvPr/>
        </p:nvSpPr>
        <p:spPr>
          <a:xfrm>
            <a:off x="5753098" y="7176033"/>
            <a:ext cx="67818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752"/>
              </a:lnSpc>
            </a:pPr>
            <a:r>
              <a:rPr lang="en-US" sz="4000" b="1" spc="-277" dirty="0" err="1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Stesimbrotus</a:t>
            </a:r>
            <a:r>
              <a:rPr lang="en-US" sz="4000" b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 of Thasos (II)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848" y="3076907"/>
            <a:ext cx="17882304" cy="6995762"/>
            <a:chOff x="0" y="0"/>
            <a:chExt cx="1404095" cy="5492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4095" cy="549298"/>
            </a:xfrm>
            <a:custGeom>
              <a:avLst/>
              <a:gdLst/>
              <a:ahLst/>
              <a:cxnLst/>
              <a:rect l="l" t="t" r="r" b="b"/>
              <a:pathLst>
                <a:path w="1404095" h="549298">
                  <a:moveTo>
                    <a:pt x="43294" y="0"/>
                  </a:moveTo>
                  <a:lnTo>
                    <a:pt x="1360801" y="0"/>
                  </a:lnTo>
                  <a:cubicBezTo>
                    <a:pt x="1372283" y="0"/>
                    <a:pt x="1383295" y="4561"/>
                    <a:pt x="1391414" y="12680"/>
                  </a:cubicBezTo>
                  <a:cubicBezTo>
                    <a:pt x="1399533" y="20800"/>
                    <a:pt x="1404095" y="31812"/>
                    <a:pt x="1404095" y="43294"/>
                  </a:cubicBezTo>
                  <a:lnTo>
                    <a:pt x="1404095" y="506004"/>
                  </a:lnTo>
                  <a:cubicBezTo>
                    <a:pt x="1404095" y="517486"/>
                    <a:pt x="1399533" y="528498"/>
                    <a:pt x="1391414" y="536617"/>
                  </a:cubicBezTo>
                  <a:cubicBezTo>
                    <a:pt x="1383295" y="544737"/>
                    <a:pt x="1372283" y="549298"/>
                    <a:pt x="1360801" y="549298"/>
                  </a:cubicBezTo>
                  <a:lnTo>
                    <a:pt x="43294" y="549298"/>
                  </a:lnTo>
                  <a:cubicBezTo>
                    <a:pt x="31812" y="549298"/>
                    <a:pt x="20800" y="544737"/>
                    <a:pt x="12680" y="536617"/>
                  </a:cubicBezTo>
                  <a:cubicBezTo>
                    <a:pt x="4561" y="528498"/>
                    <a:pt x="0" y="517486"/>
                    <a:pt x="0" y="506004"/>
                  </a:cubicBezTo>
                  <a:lnTo>
                    <a:pt x="0" y="43294"/>
                  </a:lnTo>
                  <a:cubicBezTo>
                    <a:pt x="0" y="31812"/>
                    <a:pt x="4561" y="20800"/>
                    <a:pt x="12680" y="12680"/>
                  </a:cubicBezTo>
                  <a:cubicBezTo>
                    <a:pt x="20800" y="4561"/>
                    <a:pt x="31812" y="0"/>
                    <a:pt x="432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286000" y="4325327"/>
            <a:ext cx="144780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400" b="1" dirty="0">
                <a:solidFill>
                  <a:srgbClr val="654435"/>
                </a:solidFill>
                <a:latin typeface="Times New Roman" panose="02020603050405020304" pitchFamily="18" charset="0"/>
                <a:ea typeface="Gordita Bold"/>
                <a:cs typeface="Times New Roman" panose="02020603050405020304" pitchFamily="18" charset="0"/>
                <a:sym typeface="Gordita Bold"/>
              </a:rPr>
              <a:t>Interpretations of </a:t>
            </a:r>
            <a:r>
              <a:rPr lang="en-US" sz="4400" b="1" i="1" dirty="0">
                <a:solidFill>
                  <a:srgbClr val="654435"/>
                </a:solidFill>
                <a:latin typeface="Times New Roman" panose="02020603050405020304" pitchFamily="18" charset="0"/>
                <a:ea typeface="Gordita Bold"/>
                <a:cs typeface="Times New Roman" panose="02020603050405020304" pitchFamily="18" charset="0"/>
                <a:sym typeface="Gordita Bold"/>
              </a:rPr>
              <a:t>On Themistocles, Thucydides, and Pericles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000" y="1423762"/>
            <a:ext cx="5010105" cy="1424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9259" spc="-583" dirty="0">
                <a:solidFill>
                  <a:srgbClr val="654435"/>
                </a:solidFill>
                <a:latin typeface="Times New Roman" panose="02020603050405020304" pitchFamily="18" charset="0"/>
                <a:ea typeface="Heading Now 71-78"/>
                <a:cs typeface="Times New Roman" panose="02020603050405020304" pitchFamily="18" charset="0"/>
                <a:sym typeface="Heading Now 71-78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1200" y="5143500"/>
            <a:ext cx="14782800" cy="3582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654435"/>
                </a:solidFill>
                <a:latin typeface="Times New Roman" panose="02020603050405020304" pitchFamily="18" charset="0"/>
                <a:ea typeface="Gordita"/>
                <a:cs typeface="Times New Roman" panose="02020603050405020304" pitchFamily="18" charset="0"/>
                <a:sym typeface="Gordita"/>
              </a:rPr>
              <a:t>(I)    A Political Pamphlet 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654435"/>
                </a:solidFill>
                <a:latin typeface="Times New Roman" panose="02020603050405020304" pitchFamily="18" charset="0"/>
                <a:ea typeface="Gordita"/>
                <a:cs typeface="Times New Roman" panose="02020603050405020304" pitchFamily="18" charset="0"/>
                <a:sym typeface="Gordita"/>
              </a:rPr>
              <a:t>(II)   Between πα</a:t>
            </a:r>
            <a:r>
              <a:rPr lang="en-US" sz="4000" dirty="0" err="1">
                <a:solidFill>
                  <a:srgbClr val="654435"/>
                </a:solidFill>
                <a:latin typeface="Times New Roman" panose="02020603050405020304" pitchFamily="18" charset="0"/>
                <a:ea typeface="Gordita"/>
                <a:cs typeface="Times New Roman" panose="02020603050405020304" pitchFamily="18" charset="0"/>
                <a:sym typeface="Gordita"/>
              </a:rPr>
              <a:t>ιδεί</a:t>
            </a:r>
            <a:r>
              <a:rPr lang="en-US" sz="4000" dirty="0">
                <a:solidFill>
                  <a:srgbClr val="654435"/>
                </a:solidFill>
                <a:latin typeface="Times New Roman" panose="02020603050405020304" pitchFamily="18" charset="0"/>
                <a:ea typeface="Gordita"/>
                <a:cs typeface="Times New Roman" panose="02020603050405020304" pitchFamily="18" charset="0"/>
                <a:sym typeface="Gordita"/>
              </a:rPr>
              <a:t>α (education and culture) and ἦθος (character)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654435"/>
                </a:solidFill>
                <a:latin typeface="Times New Roman" panose="02020603050405020304" pitchFamily="18" charset="0"/>
                <a:ea typeface="Gordita"/>
                <a:cs typeface="Times New Roman" panose="02020603050405020304" pitchFamily="18" charset="0"/>
                <a:sym typeface="Gordita"/>
              </a:rPr>
              <a:t>(III)  An Early Example of Greek Biography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654435"/>
                </a:solidFill>
                <a:latin typeface="Times New Roman" panose="02020603050405020304" pitchFamily="18" charset="0"/>
                <a:ea typeface="Gordita"/>
                <a:cs typeface="Times New Roman" panose="02020603050405020304" pitchFamily="18" charset="0"/>
                <a:sym typeface="Gordita"/>
              </a:rPr>
              <a:t>(IV)  Pamphlet Again?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B2067-DCCD-6365-1ECF-15432301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68294B9-813B-0ACF-8B31-EAB3465C6847}"/>
              </a:ext>
            </a:extLst>
          </p:cNvPr>
          <p:cNvSpPr txBox="1"/>
          <p:nvPr/>
        </p:nvSpPr>
        <p:spPr>
          <a:xfrm>
            <a:off x="1744737" y="790101"/>
            <a:ext cx="1611503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52"/>
              </a:lnSpc>
            </a:pPr>
            <a:r>
              <a:rPr lang="en-US" sz="44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Interpretation of </a:t>
            </a:r>
            <a:r>
              <a:rPr lang="en-US" sz="4400" i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On Themistocles, Thucydides, and Pericles </a:t>
            </a:r>
            <a:r>
              <a:rPr lang="en-US" sz="44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(I): A Political Pamphlet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3673D61-438D-297C-1605-778F0E31F7BC}"/>
              </a:ext>
            </a:extLst>
          </p:cNvPr>
          <p:cNvSpPr/>
          <p:nvPr/>
        </p:nvSpPr>
        <p:spPr>
          <a:xfrm rot="-5400000">
            <a:off x="883611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23709B-F505-9BCA-9A35-2530321E7140}"/>
              </a:ext>
            </a:extLst>
          </p:cNvPr>
          <p:cNvSpPr/>
          <p:nvPr/>
        </p:nvSpPr>
        <p:spPr>
          <a:xfrm rot="-5400000">
            <a:off x="506657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C1CAA98F-9DCA-226F-8916-B93BB60A1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7" y="3703820"/>
            <a:ext cx="3175000" cy="44831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63D09E55-60B1-BBA2-29AB-6201E4F875F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9"/>
          <a:stretch>
            <a:fillRect/>
          </a:stretch>
        </p:blipFill>
        <p:spPr>
          <a:xfrm>
            <a:off x="3289251" y="2410941"/>
            <a:ext cx="6067223" cy="7623897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073A9260-6A12-EFFC-E6D7-53FD80994B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662" y="3703820"/>
            <a:ext cx="3374918" cy="448310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3E12F5F-B92A-4903-7B75-91BE2ECE48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039728" y="3532978"/>
            <a:ext cx="7152350" cy="534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1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3E89F-C239-5658-663D-06AE79B0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922CEA1-0A1E-7446-8000-4C30865DD2FC}"/>
              </a:ext>
            </a:extLst>
          </p:cNvPr>
          <p:cNvSpPr txBox="1"/>
          <p:nvPr/>
        </p:nvSpPr>
        <p:spPr>
          <a:xfrm>
            <a:off x="1676400" y="750376"/>
            <a:ext cx="16234291" cy="124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2"/>
              </a:lnSpc>
            </a:pPr>
            <a:r>
              <a:rPr lang="en-US" sz="40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Interpretation of </a:t>
            </a:r>
            <a:r>
              <a:rPr lang="en-US" sz="4000" i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On Themistocles, Thucydides, and Pericles </a:t>
            </a:r>
            <a:r>
              <a:rPr lang="en-US" sz="40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(II): Between πα</a:t>
            </a:r>
            <a:r>
              <a:rPr lang="en-US" sz="4000" spc="-277" dirty="0" err="1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ιδεί</a:t>
            </a:r>
            <a:r>
              <a:rPr lang="en-US" sz="40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α (education and culture) and ἦθος (character)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707F447-C0F7-0751-4FA9-4C203089CBDE}"/>
              </a:ext>
            </a:extLst>
          </p:cNvPr>
          <p:cNvSpPr/>
          <p:nvPr/>
        </p:nvSpPr>
        <p:spPr>
          <a:xfrm rot="-5400000">
            <a:off x="883611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9D14AE-9339-471C-CA25-A4D4FECC4363}"/>
              </a:ext>
            </a:extLst>
          </p:cNvPr>
          <p:cNvSpPr/>
          <p:nvPr/>
        </p:nvSpPr>
        <p:spPr>
          <a:xfrm rot="-5400000">
            <a:off x="506657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A21FBAD-6216-1123-4A9D-ED37F665D1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57" y="3695700"/>
            <a:ext cx="9480310" cy="4724400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F3591F19-2229-60FE-52DA-5913782BF8AE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20" t="6785" r="16573" b="17610"/>
          <a:stretch>
            <a:fillRect/>
          </a:stretch>
        </p:blipFill>
        <p:spPr>
          <a:xfrm>
            <a:off x="11277600" y="3009900"/>
            <a:ext cx="46482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8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12837-92B4-479C-0534-33BDF7C4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AA38354-A99C-A423-0EAA-6A2C6068CBBA}"/>
              </a:ext>
            </a:extLst>
          </p:cNvPr>
          <p:cNvSpPr txBox="1"/>
          <p:nvPr/>
        </p:nvSpPr>
        <p:spPr>
          <a:xfrm>
            <a:off x="1676400" y="790101"/>
            <a:ext cx="1623429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2"/>
              </a:lnSpc>
            </a:pPr>
            <a:r>
              <a:rPr lang="en-US" sz="44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Interpretation of </a:t>
            </a:r>
            <a:r>
              <a:rPr lang="en-US" sz="4400" i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On Themistocles, Thucydides, and Pericles </a:t>
            </a:r>
            <a:r>
              <a:rPr lang="en-US" sz="44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(III): An Early Example of Greek Biography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E0D24A1-6401-CF5A-76D0-D5133D9ECF65}"/>
              </a:ext>
            </a:extLst>
          </p:cNvPr>
          <p:cNvSpPr/>
          <p:nvPr/>
        </p:nvSpPr>
        <p:spPr>
          <a:xfrm rot="-5400000">
            <a:off x="883611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010EE63-CA8D-E337-6F9C-D31B1C531081}"/>
              </a:ext>
            </a:extLst>
          </p:cNvPr>
          <p:cNvSpPr/>
          <p:nvPr/>
        </p:nvSpPr>
        <p:spPr>
          <a:xfrm rot="-5400000">
            <a:off x="506657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CE06633-0B64-1FE7-3C47-3EF070710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694" y="2321046"/>
            <a:ext cx="6145675" cy="7886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29231411-C33C-FBE2-42B2-3F8DBAD40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2320421"/>
            <a:ext cx="5731510" cy="788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2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DA374-750C-887B-87D2-D2DC9F41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9BE735E-409F-0FA3-CC97-103F476D58F9}"/>
              </a:ext>
            </a:extLst>
          </p:cNvPr>
          <p:cNvSpPr txBox="1"/>
          <p:nvPr/>
        </p:nvSpPr>
        <p:spPr>
          <a:xfrm>
            <a:off x="1676400" y="790101"/>
            <a:ext cx="1623429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2"/>
              </a:lnSpc>
            </a:pPr>
            <a:r>
              <a:rPr lang="en-US" sz="44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Interpretation of </a:t>
            </a:r>
            <a:r>
              <a:rPr lang="en-US" sz="4400" i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On Themistocles, Thucydides, and Pericles </a:t>
            </a:r>
            <a:r>
              <a:rPr lang="en-US" sz="4400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(IV): Pamphlet Again?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3DB0AF8-CF41-6027-793E-752B7B3C54A4}"/>
              </a:ext>
            </a:extLst>
          </p:cNvPr>
          <p:cNvSpPr/>
          <p:nvPr/>
        </p:nvSpPr>
        <p:spPr>
          <a:xfrm rot="-5400000">
            <a:off x="883611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D92032C-DC67-0F7E-34D2-75C663377B7E}"/>
              </a:ext>
            </a:extLst>
          </p:cNvPr>
          <p:cNvSpPr/>
          <p:nvPr/>
        </p:nvSpPr>
        <p:spPr>
          <a:xfrm rot="-5400000">
            <a:off x="506657" y="1217177"/>
            <a:ext cx="753908" cy="376954"/>
          </a:xfrm>
          <a:custGeom>
            <a:avLst/>
            <a:gdLst/>
            <a:ahLst/>
            <a:cxnLst/>
            <a:rect l="l" t="t" r="r" b="b"/>
            <a:pathLst>
              <a:path w="753908" h="376954">
                <a:moveTo>
                  <a:pt x="0" y="0"/>
                </a:moveTo>
                <a:lnTo>
                  <a:pt x="753909" y="0"/>
                </a:lnTo>
                <a:lnTo>
                  <a:pt x="753909" y="376954"/>
                </a:lnTo>
                <a:lnTo>
                  <a:pt x="0" y="376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536F91EC-C711-14C7-3A1A-75879C5D7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2335412"/>
            <a:ext cx="5160010" cy="7848745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7C6A31A2-2021-C2EB-F134-64AF799A3A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924300"/>
            <a:ext cx="10977336" cy="374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5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DB9E00C1-164F-05F8-22AF-1B0228900EA9}"/>
              </a:ext>
            </a:extLst>
          </p:cNvPr>
          <p:cNvSpPr txBox="1"/>
          <p:nvPr/>
        </p:nvSpPr>
        <p:spPr>
          <a:xfrm>
            <a:off x="2133600" y="4000500"/>
            <a:ext cx="14020799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8800" b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T</a:t>
            </a:r>
            <a:r>
              <a:rPr lang="en-US" altLang="zh-CN" sz="8800" b="1" spc="-277" dirty="0">
                <a:solidFill>
                  <a:srgbClr val="7E2330"/>
                </a:solidFill>
                <a:latin typeface="Arial" panose="020B0604020202020204" pitchFamily="34" charset="0"/>
                <a:ea typeface="Heading Now 71-78"/>
                <a:cs typeface="Arial" panose="020B0604020202020204" pitchFamily="34" charset="0"/>
                <a:sym typeface="Heading Now 71-78"/>
              </a:rPr>
              <a:t>hanks for your attention!</a:t>
            </a:r>
            <a:endParaRPr lang="en-US" sz="8800" b="1" spc="-277" dirty="0">
              <a:solidFill>
                <a:srgbClr val="7E2330"/>
              </a:solidFill>
              <a:latin typeface="Arial" panose="020B0604020202020204" pitchFamily="34" charset="0"/>
              <a:ea typeface="Heading Now 71-78"/>
              <a:cs typeface="Arial" panose="020B0604020202020204" pitchFamily="34" charset="0"/>
              <a:sym typeface="Heading Now 71-78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09CFD18D-7B57-BB95-C3A4-9B9EFE71332F}"/>
              </a:ext>
            </a:extLst>
          </p:cNvPr>
          <p:cNvSpPr txBox="1"/>
          <p:nvPr/>
        </p:nvSpPr>
        <p:spPr>
          <a:xfrm>
            <a:off x="3724273" y="6972300"/>
            <a:ext cx="10839452" cy="651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4000" kern="1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Times New Roman"/>
              </a:rPr>
              <a:t>Contact:  ruobingxian@fudan.edu.cn</a:t>
            </a:r>
          </a:p>
        </p:txBody>
      </p:sp>
    </p:spTree>
    <p:extLst>
      <p:ext uri="{BB962C8B-B14F-4D97-AF65-F5344CB8AC3E}">
        <p14:creationId xmlns:p14="http://schemas.microsoft.com/office/powerpoint/2010/main" val="163525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138</Words>
  <Application>Microsoft Macintosh PowerPoint</Application>
  <PresentationFormat>Custom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Analysis Presentation</dc:title>
  <cp:lastModifiedBy>Microsoft Office User</cp:lastModifiedBy>
  <cp:revision>8</cp:revision>
  <dcterms:created xsi:type="dcterms:W3CDTF">2006-08-16T00:00:00Z</dcterms:created>
  <dcterms:modified xsi:type="dcterms:W3CDTF">2026-05-20T06:34:58Z</dcterms:modified>
  <dc:identifier>DAHJbvQgNG0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{"Label":"1","ContentProducer":"001191110105MA01AN806X00000","ProduceID":"DAHJbvQgNG0","ReservedCode1":"","ContentPropagator":"001191110105MA01AN806X00000","PropagateID":"DAHJbvQgNG0","ReservedCode2":""}</vt:lpwstr>
  </property>
</Properties>
</file>