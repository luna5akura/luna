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9" r:id="rId1"/>
  </p:sldMasterIdLst>
  <p:notesMasterIdLst>
    <p:notesMasterId r:id="rId17"/>
  </p:notesMasterIdLst>
  <p:sldIdLst>
    <p:sldId id="256" r:id="rId2"/>
    <p:sldId id="264" r:id="rId3"/>
    <p:sldId id="258" r:id="rId4"/>
    <p:sldId id="265" r:id="rId5"/>
    <p:sldId id="259" r:id="rId6"/>
    <p:sldId id="269" r:id="rId7"/>
    <p:sldId id="271" r:id="rId8"/>
    <p:sldId id="260" r:id="rId9"/>
    <p:sldId id="268" r:id="rId10"/>
    <p:sldId id="272" r:id="rId11"/>
    <p:sldId id="262" r:id="rId12"/>
    <p:sldId id="266" r:id="rId13"/>
    <p:sldId id="273" r:id="rId14"/>
    <p:sldId id="267" r:id="rId15"/>
    <p:sldId id="27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F51"/>
    <a:srgbClr val="E0DDE5"/>
    <a:srgbClr val="B2BEC5"/>
    <a:srgbClr val="80959A"/>
    <a:srgbClr val="566B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0780" autoAdjust="0"/>
  </p:normalViewPr>
  <p:slideViewPr>
    <p:cSldViewPr snapToGrid="0" snapToObjects="1">
      <p:cViewPr varScale="1">
        <p:scale>
          <a:sx n="104" d="100"/>
          <a:sy n="104" d="100"/>
        </p:scale>
        <p:origin x="6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50AF2-B605-F043-BE8B-7D314C4C636C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DFBA8E-7AD8-6E44-9427-35A3EDD4489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3656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FBA8E-7AD8-6E44-9427-35A3EDD44890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1277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3D83B-DFF7-F064-1B22-58472F278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677830-9D55-D252-D955-5170D203BA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246DAB-9837-B6CC-F4DE-8F23E166D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83B876-59DE-AF2E-A71D-75142D22A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FBA8E-7AD8-6E44-9427-35A3EDD44890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6455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FBA8E-7AD8-6E44-9427-35A3EDD44890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150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FBA8E-7AD8-6E44-9427-35A3EDD44890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6428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B1F81-27EA-50FA-A9AB-EB6CD352D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59762B-D434-2F9D-1D0C-13ADADC01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AE356A-267C-0CBC-098B-7AA25373A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269110-AF8D-2C82-D344-4ADA30FF8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FBA8E-7AD8-6E44-9427-35A3EDD44890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0132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8D9CE-AAED-92F9-7ABD-39021B4C5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85DA29-53B8-F07C-5982-9D3A6B888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4C007D-E5F5-9E04-D77C-A0B5B8F00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F0BAF6-D61A-E08E-AC8B-9677F008D9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FBA8E-7AD8-6E44-9427-35A3EDD44890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3051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4A5C5CD-EBD4-8A48-B151-23362661AD1E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6BACFBA-1527-4E4F-ABED-5E2C6770DBF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26514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C5CD-EBD4-8A48-B151-23362661AD1E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CFBA-1527-4E4F-ABED-5E2C6770DB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1494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4A5C5CD-EBD4-8A48-B151-23362661AD1E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BACFBA-1527-4E4F-ABED-5E2C6770DBF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35551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C5CD-EBD4-8A48-B151-23362661AD1E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CFBA-1527-4E4F-ABED-5E2C6770DB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86337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C5CD-EBD4-8A48-B151-23362661AD1E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CFBA-1527-4E4F-ABED-5E2C6770DB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81587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C5CD-EBD4-8A48-B151-23362661AD1E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CFBA-1527-4E4F-ABED-5E2C6770DB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844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C5CD-EBD4-8A48-B151-23362661AD1E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CFBA-1527-4E4F-ABED-5E2C6770DB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5538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4A5C5CD-EBD4-8A48-B151-23362661AD1E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BACFBA-1527-4E4F-ABED-5E2C6770DBF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693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4A5C5CD-EBD4-8A48-B151-23362661AD1E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BACFBA-1527-4E4F-ABED-5E2C6770DBF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7220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C5CD-EBD4-8A48-B151-23362661AD1E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CFBA-1527-4E4F-ABED-5E2C6770DB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0968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5C5CD-EBD4-8A48-B151-23362661AD1E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CFBA-1527-4E4F-ABED-5E2C6770DB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828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34A5C5CD-EBD4-8A48-B151-23362661AD1E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06BACFBA-1527-4E4F-ABED-5E2C6770DBF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98896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ournals.ub.uni-heidelberg.de/index.php/syllogos/index" TargetMode="External"/><Relationship Id="rId4" Type="http://schemas.openxmlformats.org/officeDocument/2006/relationships/hyperlink" Target="https://histos.org/index.php/histos/index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jpe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124CF3C-3A9B-C7A7-ECD5-4ADC75BCA2A3}"/>
              </a:ext>
            </a:extLst>
          </p:cNvPr>
          <p:cNvSpPr/>
          <p:nvPr/>
        </p:nvSpPr>
        <p:spPr>
          <a:xfrm>
            <a:off x="3954610" y="3417292"/>
            <a:ext cx="4282775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ctr">
              <a:lnSpc>
                <a:spcPct val="150000"/>
              </a:lnSpc>
            </a:pPr>
            <a:r>
              <a:rPr lang="en-GB" altLang="zh-CN" sz="2400" b="1" kern="100" dirty="0">
                <a:solidFill>
                  <a:srgbClr val="445F51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Herodotus and His Colleagues</a:t>
            </a:r>
            <a:endParaRPr lang="zh-CN" altLang="zh-CN" sz="2400" b="1" kern="100" dirty="0">
              <a:solidFill>
                <a:srgbClr val="445F51"/>
              </a:solidFill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7ECE5C-7093-45CF-0F06-E2B1A447A5F8}"/>
              </a:ext>
            </a:extLst>
          </p:cNvPr>
          <p:cNvSpPr/>
          <p:nvPr/>
        </p:nvSpPr>
        <p:spPr>
          <a:xfrm>
            <a:off x="4748030" y="4770047"/>
            <a:ext cx="2473819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ctr">
              <a:lnSpc>
                <a:spcPct val="150000"/>
              </a:lnSpc>
            </a:pPr>
            <a:r>
              <a:rPr lang="en-US" altLang="zh-CN" kern="100" dirty="0">
                <a:solidFill>
                  <a:srgbClr val="445F51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Prof. Dr. </a:t>
            </a:r>
            <a:r>
              <a:rPr lang="en-US" altLang="zh-CN" kern="100" dirty="0" err="1">
                <a:solidFill>
                  <a:srgbClr val="445F51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Ruobing</a:t>
            </a:r>
            <a:r>
              <a:rPr lang="en-US" altLang="zh-CN" kern="100" dirty="0">
                <a:solidFill>
                  <a:srgbClr val="445F51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 Xian</a:t>
            </a:r>
            <a:endParaRPr lang="zh-CN" altLang="zh-CN" kern="100" dirty="0">
              <a:solidFill>
                <a:srgbClr val="445F51"/>
              </a:solidFill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2AFE55-6211-1B57-C24E-6630D75115D0}"/>
              </a:ext>
            </a:extLst>
          </p:cNvPr>
          <p:cNvSpPr/>
          <p:nvPr/>
        </p:nvSpPr>
        <p:spPr>
          <a:xfrm>
            <a:off x="1463840" y="1950396"/>
            <a:ext cx="92643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27000" algn="ctr"/>
            <a:r>
              <a:rPr lang="en-US" altLang="zh-CN" sz="3600" b="1" kern="100">
                <a:solidFill>
                  <a:srgbClr val="445F51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Greek Literature </a:t>
            </a:r>
            <a:r>
              <a:rPr lang="en-US" altLang="zh-CN" sz="3600" b="1" kern="100" dirty="0">
                <a:solidFill>
                  <a:srgbClr val="445F51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in the Era of the </a:t>
            </a:r>
          </a:p>
          <a:p>
            <a:pPr indent="127000" algn="ctr"/>
            <a:r>
              <a:rPr lang="en-US" altLang="zh-CN" sz="3600" b="1" kern="100" dirty="0" err="1">
                <a:solidFill>
                  <a:srgbClr val="445F51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Atheno</a:t>
            </a:r>
            <a:r>
              <a:rPr lang="en-US" altLang="zh-CN" sz="3600" b="1" kern="100" dirty="0">
                <a:solidFill>
                  <a:srgbClr val="445F51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-Peloponnesian Wars (431–404 BCE)</a:t>
            </a:r>
            <a:endParaRPr lang="zh-CN" altLang="zh-CN" sz="3600" b="1" kern="100" dirty="0">
              <a:solidFill>
                <a:srgbClr val="445F51"/>
              </a:solidFill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3F3063-E20C-2B8A-69BB-25D454BEBCCD}"/>
              </a:ext>
            </a:extLst>
          </p:cNvPr>
          <p:cNvSpPr/>
          <p:nvPr/>
        </p:nvSpPr>
        <p:spPr>
          <a:xfrm>
            <a:off x="3954610" y="4183598"/>
            <a:ext cx="40606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27000" algn="ctr"/>
            <a:r>
              <a:rPr lang="en-US" altLang="zh-CN" sz="2000" kern="100" dirty="0">
                <a:solidFill>
                  <a:srgbClr val="445F51"/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Spring Semester 2026</a:t>
            </a:r>
            <a:endParaRPr lang="zh-CN" altLang="zh-CN" sz="2000" kern="100" dirty="0">
              <a:solidFill>
                <a:srgbClr val="445F51"/>
              </a:solidFill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3924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1AAE575-6141-B51E-2CE0-0F69B078553A}"/>
              </a:ext>
            </a:extLst>
          </p:cNvPr>
          <p:cNvSpPr txBox="1"/>
          <p:nvPr/>
        </p:nvSpPr>
        <p:spPr>
          <a:xfrm>
            <a:off x="4146884" y="445168"/>
            <a:ext cx="3898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Semester Survey</a:t>
            </a:r>
            <a:endParaRPr kumimoji="1" lang="zh-CN" alt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EF8F335-9359-2AA8-89B1-23546E292539}"/>
              </a:ext>
            </a:extLst>
          </p:cNvPr>
          <p:cNvGrpSpPr/>
          <p:nvPr/>
        </p:nvGrpSpPr>
        <p:grpSpPr>
          <a:xfrm>
            <a:off x="0" y="0"/>
            <a:ext cx="12192000" cy="7017738"/>
            <a:chOff x="0" y="-179935"/>
            <a:chExt cx="12192000" cy="7017738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3078D77F-030A-3046-89EA-AA5EE54CD344}"/>
                </a:ext>
              </a:extLst>
            </p:cNvPr>
            <p:cNvSpPr/>
            <p:nvPr/>
          </p:nvSpPr>
          <p:spPr>
            <a:xfrm>
              <a:off x="0" y="-164576"/>
              <a:ext cx="12192000" cy="70023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D7AE169D-D724-274F-BE57-6A6D3AC25622}"/>
                </a:ext>
              </a:extLst>
            </p:cNvPr>
            <p:cNvGrpSpPr/>
            <p:nvPr/>
          </p:nvGrpSpPr>
          <p:grpSpPr>
            <a:xfrm>
              <a:off x="0" y="-179935"/>
              <a:ext cx="12192000" cy="1749600"/>
              <a:chOff x="0" y="-179935"/>
              <a:chExt cx="12192000" cy="1749600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3636F4A-4C70-589B-3BA1-D8AEE024C981}"/>
                  </a:ext>
                </a:extLst>
              </p:cNvPr>
              <p:cNvSpPr/>
              <p:nvPr/>
            </p:nvSpPr>
            <p:spPr>
              <a:xfrm>
                <a:off x="0" y="-179935"/>
                <a:ext cx="12192000" cy="1749600"/>
              </a:xfrm>
              <a:prstGeom prst="rect">
                <a:avLst/>
              </a:prstGeom>
              <a:solidFill>
                <a:srgbClr val="566B7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DD3EF69-3AF1-3E7D-CDBD-4AE3E0AD63EA}"/>
                  </a:ext>
                </a:extLst>
              </p:cNvPr>
              <p:cNvSpPr txBox="1"/>
              <p:nvPr/>
            </p:nvSpPr>
            <p:spPr>
              <a:xfrm>
                <a:off x="4827962" y="469410"/>
                <a:ext cx="2536074" cy="461665"/>
              </a:xfrm>
              <a:prstGeom prst="rect">
                <a:avLst/>
              </a:prstGeom>
              <a:solidFill>
                <a:srgbClr val="566B7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Semester Survey</a:t>
                </a:r>
                <a:endParaRPr kumimoji="1"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100C06C-6E69-C0EC-F3FA-4808AF0A7ED0}"/>
              </a:ext>
            </a:extLst>
          </p:cNvPr>
          <p:cNvGrpSpPr/>
          <p:nvPr/>
        </p:nvGrpSpPr>
        <p:grpSpPr>
          <a:xfrm>
            <a:off x="0" y="1741066"/>
            <a:ext cx="12192000" cy="1741803"/>
            <a:chOff x="0" y="1569665"/>
            <a:chExt cx="12192000" cy="174960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F310F20-97F0-84E3-E8A6-B034313D7EA3}"/>
                </a:ext>
              </a:extLst>
            </p:cNvPr>
            <p:cNvSpPr/>
            <p:nvPr/>
          </p:nvSpPr>
          <p:spPr>
            <a:xfrm>
              <a:off x="0" y="1569665"/>
              <a:ext cx="12192000" cy="1749600"/>
            </a:xfrm>
            <a:prstGeom prst="rect">
              <a:avLst/>
            </a:prstGeom>
            <a:solidFill>
              <a:srgbClr val="8095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128F028-5733-74D2-8D1E-853FFEFAD173}"/>
                </a:ext>
              </a:extLst>
            </p:cNvPr>
            <p:cNvSpPr/>
            <p:nvPr/>
          </p:nvSpPr>
          <p:spPr>
            <a:xfrm>
              <a:off x="2739509" y="2009970"/>
              <a:ext cx="6347187" cy="5825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127000" algn="just">
                <a:lnSpc>
                  <a:spcPct val="150000"/>
                </a:lnSpc>
              </a:pPr>
              <a:r>
                <a:rPr lang="en-GB" altLang="zh-CN" sz="2400" b="1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 panose="02010600030101010101" pitchFamily="2" charset="-122"/>
                </a:rPr>
                <a:t>The Ancient Greek World from 510 to 446 BC</a:t>
              </a:r>
              <a:endParaRPr lang="zh-CN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DBA8C86-90B7-FB75-8126-20DE5735DA80}"/>
              </a:ext>
            </a:extLst>
          </p:cNvPr>
          <p:cNvGrpSpPr/>
          <p:nvPr/>
        </p:nvGrpSpPr>
        <p:grpSpPr>
          <a:xfrm>
            <a:off x="-3" y="3471776"/>
            <a:ext cx="12192000" cy="1807456"/>
            <a:chOff x="0" y="5058527"/>
            <a:chExt cx="12192000" cy="18074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4930F38-E4EF-1B1C-796C-CF97E1F0BE13}"/>
                </a:ext>
              </a:extLst>
            </p:cNvPr>
            <p:cNvSpPr/>
            <p:nvPr/>
          </p:nvSpPr>
          <p:spPr>
            <a:xfrm>
              <a:off x="0" y="5058527"/>
              <a:ext cx="12192000" cy="1807456"/>
            </a:xfrm>
            <a:prstGeom prst="rect">
              <a:avLst/>
            </a:prstGeom>
            <a:solidFill>
              <a:srgbClr val="B2BE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zh-CN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C7B36443-8299-C048-2372-AAD0D8AD675A}"/>
                </a:ext>
              </a:extLst>
            </p:cNvPr>
            <p:cNvSpPr txBox="1"/>
            <p:nvPr/>
          </p:nvSpPr>
          <p:spPr>
            <a:xfrm>
              <a:off x="3068054" y="5747115"/>
              <a:ext cx="64143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</a:t>
              </a:r>
              <a:r>
                <a:rPr lang="en-GB" altLang="zh-CN" sz="2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Atheno</a:t>
              </a:r>
              <a:r>
                <a:rPr lang="en-GB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-Peloponnesian Wars (431–404 BC)</a:t>
              </a:r>
              <a:endParaRPr lang="zh-CN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DB509F6-6E39-264F-2F33-357F8A9560CC}"/>
              </a:ext>
            </a:extLst>
          </p:cNvPr>
          <p:cNvGrpSpPr/>
          <p:nvPr/>
        </p:nvGrpSpPr>
        <p:grpSpPr>
          <a:xfrm>
            <a:off x="0" y="5268138"/>
            <a:ext cx="12192000" cy="1749600"/>
            <a:chOff x="0" y="5115966"/>
            <a:chExt cx="12192000" cy="174960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100BE0F-2936-31C6-228B-D4FFE82AD2A5}"/>
                </a:ext>
              </a:extLst>
            </p:cNvPr>
            <p:cNvSpPr/>
            <p:nvPr/>
          </p:nvSpPr>
          <p:spPr>
            <a:xfrm>
              <a:off x="0" y="5115966"/>
              <a:ext cx="12192000" cy="1749600"/>
            </a:xfrm>
            <a:prstGeom prst="rect">
              <a:avLst/>
            </a:prstGeom>
            <a:solidFill>
              <a:srgbClr val="E0DD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B4C3878-0F39-EB11-374D-51B5CD5C9E44}"/>
                </a:ext>
              </a:extLst>
            </p:cNvPr>
            <p:cNvSpPr/>
            <p:nvPr/>
          </p:nvSpPr>
          <p:spPr>
            <a:xfrm>
              <a:off x="1703003" y="5713282"/>
              <a:ext cx="8785995" cy="5799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127000" algn="just">
                <a:lnSpc>
                  <a:spcPct val="150000"/>
                </a:lnSpc>
              </a:pPr>
              <a:r>
                <a:rPr lang="en-GB" altLang="zh-CN" sz="2400" kern="100" dirty="0">
                  <a:latin typeface="Times New Roman" panose="02020603050405020304" pitchFamily="18" charset="0"/>
                  <a:ea typeface="DengXian" panose="02010600030101010101" pitchFamily="2" charset="-122"/>
                </a:rPr>
                <a:t>Compositional Date and Intellectual Context of Herodotus’ </a:t>
              </a:r>
              <a:r>
                <a:rPr lang="en-GB" altLang="zh-CN" sz="2400" i="1" kern="100" dirty="0">
                  <a:latin typeface="Times New Roman" panose="02020603050405020304" pitchFamily="18" charset="0"/>
                  <a:ea typeface="DengXian" panose="02010600030101010101" pitchFamily="2" charset="-122"/>
                </a:rPr>
                <a:t>Histories</a:t>
              </a:r>
              <a:endParaRPr lang="zh-CN" altLang="zh-CN" sz="2400" i="1" kern="100" dirty="0"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291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03CF4371-B35C-2FBC-AA96-36AF15160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410" y="459379"/>
            <a:ext cx="9601200" cy="921034"/>
          </a:xfrm>
        </p:spPr>
        <p:txBody>
          <a:bodyPr/>
          <a:lstStyle/>
          <a:p>
            <a:pPr algn="ctr"/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Survey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B7D48F-73AE-5EE7-425F-57C106A43CAB}"/>
              </a:ext>
            </a:extLst>
          </p:cNvPr>
          <p:cNvSpPr/>
          <p:nvPr/>
        </p:nvSpPr>
        <p:spPr>
          <a:xfrm>
            <a:off x="1259643" y="1658002"/>
            <a:ext cx="1837113" cy="4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US" altLang="zh-CN" b="1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Weeks 1-4</a:t>
            </a:r>
            <a:endParaRPr lang="zh-CN" altLang="zh-CN" b="1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BB2859-A7A4-0AF3-F3C3-8C6A87289A45}"/>
              </a:ext>
            </a:extLst>
          </p:cNvPr>
          <p:cNvSpPr/>
          <p:nvPr/>
        </p:nvSpPr>
        <p:spPr>
          <a:xfrm>
            <a:off x="1308367" y="2371496"/>
            <a:ext cx="5442792" cy="406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</a:pPr>
            <a:r>
              <a:rPr lang="en-GB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 Historical and Intellectual Context of Composition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121CEB-8410-4ABE-4082-96C975189F76}"/>
              </a:ext>
            </a:extLst>
          </p:cNvPr>
          <p:cNvSpPr/>
          <p:nvPr/>
        </p:nvSpPr>
        <p:spPr>
          <a:xfrm>
            <a:off x="1339008" y="3037297"/>
            <a:ext cx="83728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/>
            <a:r>
              <a:rPr lang="en-GB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Overview of the Nine Books (oral performance alternating between the most interesting and the most tedious episodes from each book)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F646C0E-BD92-0AF4-4343-92056173CD90}"/>
              </a:ext>
            </a:extLst>
          </p:cNvPr>
          <p:cNvSpPr/>
          <p:nvPr/>
        </p:nvSpPr>
        <p:spPr>
          <a:xfrm>
            <a:off x="1339008" y="3947069"/>
            <a:ext cx="68667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algn="just"/>
            <a:r>
              <a:rPr lang="en-GB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History of Scholarship (From Dionysius of Halicarnassus to Jacoby)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FC45B4-B515-FAC2-9832-CDCEA8BCC624}"/>
              </a:ext>
            </a:extLst>
          </p:cNvPr>
          <p:cNvSpPr/>
          <p:nvPr/>
        </p:nvSpPr>
        <p:spPr>
          <a:xfrm>
            <a:off x="1318539" y="4577838"/>
            <a:ext cx="6661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algn="just"/>
            <a:r>
              <a:rPr lang="en-GB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History of Scholarship (Established Approaches and New Trends)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593512-CC2C-3B9F-A1BD-7E8A119E1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7371" y="1322889"/>
            <a:ext cx="1969972" cy="262418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950BA6D-1799-6418-FC1E-6A2C0C9CED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55211" y="4091590"/>
            <a:ext cx="2662132" cy="271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62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  <p:bldP spid="8" grpId="0"/>
      <p:bldP spid="10" grpId="0"/>
      <p:bldP spid="11" grpId="0"/>
      <p:bldP spid="14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E1197-72FB-62B9-26C7-FF28720B3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78B9C7C2-3F9C-564F-5377-3C0B2B257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157" y="397788"/>
            <a:ext cx="9601200" cy="978325"/>
          </a:xfrm>
        </p:spPr>
        <p:txBody>
          <a:bodyPr/>
          <a:lstStyle/>
          <a:p>
            <a:pPr algn="ctr"/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Survey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2B1229-0213-C160-9146-E481587707AB}"/>
              </a:ext>
            </a:extLst>
          </p:cNvPr>
          <p:cNvSpPr/>
          <p:nvPr/>
        </p:nvSpPr>
        <p:spPr>
          <a:xfrm>
            <a:off x="1119401" y="1413641"/>
            <a:ext cx="1722813" cy="4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US" altLang="zh-CN" b="1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Weeks 5–14</a:t>
            </a:r>
            <a:endParaRPr lang="zh-CN" altLang="zh-CN" b="1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5C3EC93-9F4C-5558-53DF-28CFC5CAE396}"/>
              </a:ext>
            </a:extLst>
          </p:cNvPr>
          <p:cNvSpPr/>
          <p:nvPr/>
        </p:nvSpPr>
        <p:spPr>
          <a:xfrm>
            <a:off x="1203915" y="1794907"/>
            <a:ext cx="5301570" cy="49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</a:pPr>
            <a:r>
              <a:rPr lang="en-GB" altLang="zh-CN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Hecataeus of Miletus (</a:t>
            </a:r>
            <a:r>
              <a:rPr lang="en-GB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Genealogiai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FCF29DD-81C8-7CEE-D8C3-651E18076178}"/>
              </a:ext>
            </a:extLst>
          </p:cNvPr>
          <p:cNvSpPr/>
          <p:nvPr/>
        </p:nvSpPr>
        <p:spPr>
          <a:xfrm>
            <a:off x="1203914" y="2209056"/>
            <a:ext cx="5301571" cy="377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algn="just">
              <a:lnSpc>
                <a:spcPts val="2400"/>
              </a:lnSpc>
            </a:pP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Hecataeus of Miletus (</a:t>
            </a:r>
            <a:r>
              <a:rPr lang="en-GB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Journey Round the Earth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53CC150-264A-4083-76FD-7A502EB8BEF8}"/>
              </a:ext>
            </a:extLst>
          </p:cNvPr>
          <p:cNvSpPr/>
          <p:nvPr/>
        </p:nvSpPr>
        <p:spPr>
          <a:xfrm>
            <a:off x="1248495" y="2485294"/>
            <a:ext cx="3448380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04800" algn="just">
              <a:lnSpc>
                <a:spcPct val="150000"/>
              </a:lnSpc>
            </a:pP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Charon of </a:t>
            </a:r>
            <a:r>
              <a:rPr lang="en-GB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Lampsakos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Persika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23899A-1E85-D81C-7482-4B3F6C8FC043}"/>
              </a:ext>
            </a:extLst>
          </p:cNvPr>
          <p:cNvSpPr/>
          <p:nvPr/>
        </p:nvSpPr>
        <p:spPr>
          <a:xfrm>
            <a:off x="1248495" y="2834902"/>
            <a:ext cx="4474686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04800" algn="just">
              <a:lnSpc>
                <a:spcPct val="150000"/>
              </a:lnSpc>
            </a:pP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Charon of </a:t>
            </a:r>
            <a:r>
              <a:rPr lang="en-GB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Lampsakos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Hōroi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‘Yearbooks’)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B408F9-ADBB-5313-05D6-F3B1484AA418}"/>
              </a:ext>
            </a:extLst>
          </p:cNvPr>
          <p:cNvSpPr/>
          <p:nvPr/>
        </p:nvSpPr>
        <p:spPr>
          <a:xfrm>
            <a:off x="1248495" y="3191793"/>
            <a:ext cx="3246273" cy="457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04800" algn="just">
              <a:lnSpc>
                <a:spcPct val="150000"/>
              </a:lnSpc>
            </a:pPr>
            <a:r>
              <a:rPr lang="en-GB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Hellanikos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Lesbos (</a:t>
            </a:r>
            <a:r>
              <a:rPr lang="en-GB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Atthis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EB88CF-0F33-6B8E-C2C6-025C51FFAABD}"/>
              </a:ext>
            </a:extLst>
          </p:cNvPr>
          <p:cNvSpPr txBox="1"/>
          <p:nvPr/>
        </p:nvSpPr>
        <p:spPr>
          <a:xfrm>
            <a:off x="1534853" y="3642876"/>
            <a:ext cx="7453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800" dirty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Hellanikos</a:t>
            </a:r>
            <a:r>
              <a:rPr lang="en-GB" altLang="zh-CN" sz="18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of Lesbos (</a:t>
            </a:r>
            <a:r>
              <a:rPr lang="en-GB" altLang="zh-CN" sz="1800" i="1" dirty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Hiereiai</a:t>
            </a:r>
            <a:r>
              <a:rPr lang="en-GB" altLang="zh-CN" sz="18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‘Priestesses of Hera at Argos’)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661AB07-98B6-8F9A-93C1-A292A57DC548}"/>
              </a:ext>
            </a:extLst>
          </p:cNvPr>
          <p:cNvSpPr txBox="1"/>
          <p:nvPr/>
        </p:nvSpPr>
        <p:spPr>
          <a:xfrm>
            <a:off x="1534853" y="3981609"/>
            <a:ext cx="6914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GB" altLang="zh-CN" sz="1800" kern="100" dirty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Stesimbrotus</a:t>
            </a:r>
            <a:r>
              <a:rPr lang="en-GB" altLang="zh-CN" sz="18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of Thasos (</a:t>
            </a:r>
            <a:r>
              <a:rPr lang="en-GB" altLang="zh-CN" sz="1800" i="1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On Themistokles, Thucydides, and Pericles</a:t>
            </a:r>
            <a:r>
              <a:rPr lang="en-GB" altLang="zh-CN" sz="18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B304748-0147-350B-41C5-6F025DFC9853}"/>
              </a:ext>
            </a:extLst>
          </p:cNvPr>
          <p:cNvSpPr txBox="1"/>
          <p:nvPr/>
        </p:nvSpPr>
        <p:spPr>
          <a:xfrm>
            <a:off x="1534853" y="43241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8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Ion of Chios (</a:t>
            </a:r>
            <a:r>
              <a:rPr lang="en-GB" altLang="zh-CN" sz="1800" i="1" dirty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Epidēmiai</a:t>
            </a:r>
            <a:r>
              <a:rPr lang="en-GB" altLang="zh-CN" sz="1800" i="1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altLang="zh-CN" sz="18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‘Memoirs’)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F0BF2F0-7145-48A4-5D45-0511EA2529B3}"/>
              </a:ext>
            </a:extLst>
          </p:cNvPr>
          <p:cNvSpPr txBox="1"/>
          <p:nvPr/>
        </p:nvSpPr>
        <p:spPr>
          <a:xfrm>
            <a:off x="1530341" y="4655334"/>
            <a:ext cx="4762500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altLang="zh-CN" sz="18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Ion of Chios (</a:t>
            </a:r>
            <a:r>
              <a:rPr lang="en-GB" altLang="zh-CN" sz="1800" i="1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Foundation of Chios</a:t>
            </a:r>
            <a:r>
              <a:rPr lang="en-GB" altLang="zh-CN" sz="18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6813B3-AD6F-DE8A-1E5F-D6C87CEF3159}"/>
              </a:ext>
            </a:extLst>
          </p:cNvPr>
          <p:cNvSpPr txBox="1"/>
          <p:nvPr/>
        </p:nvSpPr>
        <p:spPr>
          <a:xfrm>
            <a:off x="1248495" y="5094016"/>
            <a:ext cx="3048000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altLang="zh-CN" sz="1800" b="1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Weeks 15–16</a:t>
            </a:r>
            <a:endParaRPr lang="zh-CN" altLang="zh-CN" sz="1800" b="1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EC175B7-FBC7-4416-6326-CC8941363448}"/>
              </a:ext>
            </a:extLst>
          </p:cNvPr>
          <p:cNvSpPr txBox="1"/>
          <p:nvPr/>
        </p:nvSpPr>
        <p:spPr>
          <a:xfrm>
            <a:off x="1534853" y="5487024"/>
            <a:ext cx="4791133" cy="38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altLang="zh-CN" sz="18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Thucydides (</a:t>
            </a:r>
            <a:r>
              <a:rPr lang="en-GB" altLang="zh-CN" sz="1800" i="1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History of the Peloponnesian War</a:t>
            </a:r>
            <a:r>
              <a:rPr lang="en-GB" altLang="zh-CN" sz="18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FA517B6-47A7-1AE8-0835-11079A256BF8}"/>
              </a:ext>
            </a:extLst>
          </p:cNvPr>
          <p:cNvSpPr txBox="1"/>
          <p:nvPr/>
        </p:nvSpPr>
        <p:spPr>
          <a:xfrm>
            <a:off x="1534853" y="5803513"/>
            <a:ext cx="3048000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altLang="zh-CN" sz="1800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Course paper feedback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53B78823-DD5C-7661-D75C-4C27C68C18CE}"/>
              </a:ext>
            </a:extLst>
          </p:cNvPr>
          <p:cNvPicPr>
            <a:picLocks/>
          </p:cNvPicPr>
          <p:nvPr/>
        </p:nvPicPr>
        <p:blipFill>
          <a:blip r:embed="rId3"/>
          <a:srcRect l="6197" t="4018" r="7023" b="2174"/>
          <a:stretch>
            <a:fillRect/>
          </a:stretch>
        </p:blipFill>
        <p:spPr>
          <a:xfrm>
            <a:off x="8093982" y="1945642"/>
            <a:ext cx="2058370" cy="2966715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B7B9BCC2-8157-7EB7-5BCE-D90F4EFB2923}"/>
              </a:ext>
            </a:extLst>
          </p:cNvPr>
          <p:cNvPicPr>
            <a:picLocks/>
          </p:cNvPicPr>
          <p:nvPr/>
        </p:nvPicPr>
        <p:blipFill>
          <a:blip r:embed="rId4"/>
          <a:srcRect l="3333" t="3236" r="4185" b="2119"/>
          <a:stretch>
            <a:fillRect/>
          </a:stretch>
        </p:blipFill>
        <p:spPr>
          <a:xfrm>
            <a:off x="10230005" y="1945642"/>
            <a:ext cx="1961995" cy="296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5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4" grpId="0"/>
      <p:bldP spid="16" grpId="0"/>
      <p:bldP spid="4" grpId="0"/>
      <p:bldP spid="9" grpId="0"/>
      <p:bldP spid="13" grpId="0"/>
      <p:bldP spid="17" grpId="0"/>
      <p:bldP spid="19" grpId="0"/>
      <p:bldP spid="21" grpId="0"/>
      <p:bldP spid="24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B030F759-ABF4-6BF0-8FA3-6F516B672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778376"/>
            <a:ext cx="9601200" cy="1485900"/>
          </a:xfrm>
        </p:spPr>
        <p:txBody>
          <a:bodyPr>
            <a:normAutofit fontScale="90000"/>
          </a:bodyPr>
          <a:lstStyle/>
          <a:p>
            <a:r>
              <a:rPr lang="en-GB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Ancient Greek World from 510 to 446 BC</a:t>
            </a:r>
            <a:b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EA669D-89A6-5AA2-AF12-8EE8BF207124}"/>
              </a:ext>
            </a:extLst>
          </p:cNvPr>
          <p:cNvSpPr/>
          <p:nvPr/>
        </p:nvSpPr>
        <p:spPr>
          <a:xfrm>
            <a:off x="1276164" y="1685520"/>
            <a:ext cx="3474028" cy="4580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GB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510     End of </a:t>
            </a:r>
            <a:r>
              <a:rPr lang="en-GB" altLang="zh-CN" kern="100" dirty="0" err="1">
                <a:latin typeface="Times New Roman" panose="02020603050405020304" pitchFamily="18" charset="0"/>
                <a:ea typeface="DengXian" panose="02010600030101010101" pitchFamily="2" charset="-122"/>
              </a:rPr>
              <a:t>Peisistratid</a:t>
            </a:r>
            <a:r>
              <a:rPr lang="en-GB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 tyranny 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17A588-24D2-1E1A-0712-57533E596B9F}"/>
              </a:ext>
            </a:extLst>
          </p:cNvPr>
          <p:cNvSpPr/>
          <p:nvPr/>
        </p:nvSpPr>
        <p:spPr>
          <a:xfrm>
            <a:off x="1256928" y="2364609"/>
            <a:ext cx="4756430" cy="458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GB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508     Cleisthenes initiates democratic reforms 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9A0AE9-9DB6-A80F-55DD-F046B24F4F0D}"/>
              </a:ext>
            </a:extLst>
          </p:cNvPr>
          <p:cNvSpPr/>
          <p:nvPr/>
        </p:nvSpPr>
        <p:spPr>
          <a:xfrm>
            <a:off x="1256928" y="3043698"/>
            <a:ext cx="5121980" cy="4580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GB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487     Sortition introduced for Selection of Archons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62EF22-514C-30D1-C233-5CF875B39CDC}"/>
              </a:ext>
            </a:extLst>
          </p:cNvPr>
          <p:cNvSpPr/>
          <p:nvPr/>
        </p:nvSpPr>
        <p:spPr>
          <a:xfrm>
            <a:off x="1295400" y="3722787"/>
            <a:ext cx="4621778" cy="4580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GB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483     Building of the war fleet (Themistocles)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88AA86-96DD-F186-CF4F-E680ED1E9AB2}"/>
              </a:ext>
            </a:extLst>
          </p:cNvPr>
          <p:cNvSpPr/>
          <p:nvPr/>
        </p:nvSpPr>
        <p:spPr>
          <a:xfrm>
            <a:off x="1295400" y="4401876"/>
            <a:ext cx="2832827" cy="4578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GB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462     reforms of Ephialtes</a:t>
            </a:r>
            <a:endParaRPr lang="zh-CN" altLang="zh-CN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01F0725-F15A-4F85-C704-7BF32B21174E}"/>
              </a:ext>
            </a:extLst>
          </p:cNvPr>
          <p:cNvSpPr/>
          <p:nvPr/>
        </p:nvSpPr>
        <p:spPr>
          <a:xfrm>
            <a:off x="1295400" y="5080772"/>
            <a:ext cx="3399200" cy="4580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GB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455     Pericles’ first </a:t>
            </a:r>
            <a:r>
              <a:rPr lang="en-GB" altLang="zh-CN" kern="100" dirty="0" err="1">
                <a:latin typeface="Times New Roman" panose="02020603050405020304" pitchFamily="18" charset="0"/>
                <a:ea typeface="DengXian" panose="02010600030101010101" pitchFamily="2" charset="-122"/>
              </a:rPr>
              <a:t>Generalship</a:t>
            </a:r>
            <a:r>
              <a:rPr lang="en-GB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ABA926-5BA5-40D7-0BC3-704AB42D711D}"/>
              </a:ext>
            </a:extLst>
          </p:cNvPr>
          <p:cNvSpPr/>
          <p:nvPr/>
        </p:nvSpPr>
        <p:spPr>
          <a:xfrm>
            <a:off x="1295400" y="5759861"/>
            <a:ext cx="3993401" cy="4580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GB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447     construction of Parthenon begins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F924E85-B67E-E900-654F-F8D04347A4B7}"/>
              </a:ext>
            </a:extLst>
          </p:cNvPr>
          <p:cNvSpPr/>
          <p:nvPr/>
        </p:nvSpPr>
        <p:spPr>
          <a:xfrm>
            <a:off x="6641187" y="1685519"/>
            <a:ext cx="2781531" cy="4580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GB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499–494  Ionian Rebellion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FB634B-C110-848C-4A97-5A3E0CD0B430}"/>
              </a:ext>
            </a:extLst>
          </p:cNvPr>
          <p:cNvSpPr/>
          <p:nvPr/>
        </p:nvSpPr>
        <p:spPr>
          <a:xfrm>
            <a:off x="6615539" y="2364576"/>
            <a:ext cx="4730782" cy="4580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GB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490    First Persian invasion; Battle of Marathon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17D255A-0E06-4331-5A7C-687D03B86CD9}"/>
              </a:ext>
            </a:extLst>
          </p:cNvPr>
          <p:cNvSpPr/>
          <p:nvPr/>
        </p:nvSpPr>
        <p:spPr>
          <a:xfrm>
            <a:off x="6615539" y="3043633"/>
            <a:ext cx="3506088" cy="4580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GB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480–479 Second Persian Invasion 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005E6B-2738-3DA5-FAA5-C0D3D5DF350B}"/>
              </a:ext>
            </a:extLst>
          </p:cNvPr>
          <p:cNvSpPr/>
          <p:nvPr/>
        </p:nvSpPr>
        <p:spPr>
          <a:xfrm>
            <a:off x="6609127" y="3722690"/>
            <a:ext cx="3794693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477    Athenians form </a:t>
            </a:r>
            <a:r>
              <a:rPr lang="en-US" altLang="zh-CN" b="1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Delian League</a:t>
            </a:r>
            <a:endParaRPr lang="zh-CN" altLang="zh-CN" b="1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295E370-63BE-671C-FF5D-FEB04A344648}"/>
              </a:ext>
            </a:extLst>
          </p:cNvPr>
          <p:cNvSpPr/>
          <p:nvPr/>
        </p:nvSpPr>
        <p:spPr>
          <a:xfrm>
            <a:off x="6458445" y="4401747"/>
            <a:ext cx="4583306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   c. 466   </a:t>
            </a:r>
            <a:r>
              <a:rPr lang="en-US" altLang="zh-CN" b="1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Battles of the </a:t>
            </a:r>
            <a:r>
              <a:rPr lang="en-US" altLang="zh-CN" b="1" kern="100" dirty="0" err="1">
                <a:latin typeface="Times New Roman" panose="02020603050405020304" pitchFamily="18" charset="0"/>
                <a:ea typeface="DengXian" panose="02010600030101010101" pitchFamily="2" charset="-122"/>
              </a:rPr>
              <a:t>Eurymedon</a:t>
            </a:r>
            <a:r>
              <a:rPr lang="en-US" altLang="zh-CN" b="1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(Cimon)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06915C-265C-EE6D-2B27-18A8774B8373}"/>
              </a:ext>
            </a:extLst>
          </p:cNvPr>
          <p:cNvSpPr/>
          <p:nvPr/>
        </p:nvSpPr>
        <p:spPr>
          <a:xfrm>
            <a:off x="6637823" y="5080804"/>
            <a:ext cx="4217820" cy="4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461–446  First </a:t>
            </a:r>
            <a:r>
              <a:rPr lang="en-US" altLang="zh-CN" kern="100" dirty="0" err="1">
                <a:latin typeface="Times New Roman" panose="02020603050405020304" pitchFamily="18" charset="0"/>
                <a:ea typeface="DengXian" panose="02010600030101010101" pitchFamily="2" charset="-122"/>
              </a:rPr>
              <a:t>Atheno</a:t>
            </a: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-Peloponnesian War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7ABCFB8-7D94-E1FC-BE92-438953CD7C40}"/>
              </a:ext>
            </a:extLst>
          </p:cNvPr>
          <p:cNvSpPr/>
          <p:nvPr/>
        </p:nvSpPr>
        <p:spPr>
          <a:xfrm>
            <a:off x="6364637" y="5759860"/>
            <a:ext cx="5917069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    446     </a:t>
            </a:r>
            <a:r>
              <a:rPr lang="en-US" altLang="zh-CN" b="1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Thirty Years’ Peace between Sparta and Athens</a:t>
            </a:r>
            <a:endParaRPr lang="zh-CN" altLang="zh-CN" b="1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322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E102E1E-56A9-E639-CCB9-535B6DB4F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416" y="906138"/>
            <a:ext cx="7355607" cy="58844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5D85E3-5095-29C0-BFFD-A40E0BB3A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83" y="223788"/>
            <a:ext cx="5269832" cy="748364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Graeco-Persian Wars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94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AD91DE5-F672-E368-873C-578623E53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794" y="1239132"/>
            <a:ext cx="9619693" cy="541192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51FAF49-2017-286B-75F1-5DF89309718D}"/>
              </a:ext>
            </a:extLst>
          </p:cNvPr>
          <p:cNvSpPr txBox="1">
            <a:spLocks/>
          </p:cNvSpPr>
          <p:nvPr/>
        </p:nvSpPr>
        <p:spPr>
          <a:xfrm>
            <a:off x="755582" y="490768"/>
            <a:ext cx="7348889" cy="7483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Achaemenid Persian Empire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400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784A1CC3-5CD1-C17A-0F6F-DF6015EA014D}"/>
              </a:ext>
            </a:extLst>
          </p:cNvPr>
          <p:cNvSpPr txBox="1">
            <a:spLocks/>
          </p:cNvSpPr>
          <p:nvPr/>
        </p:nvSpPr>
        <p:spPr>
          <a:xfrm>
            <a:off x="1295400" y="778376"/>
            <a:ext cx="9601200" cy="115630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altLang="zh-C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Atheno</a:t>
            </a:r>
            <a:r>
              <a:rPr lang="en-GB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-Peloponnesian Wars (431–404 BC)</a:t>
            </a:r>
            <a:endParaRPr lang="zh-CN" altLang="zh-C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D851A2-2007-8F4E-5774-C11DF914A61A}"/>
              </a:ext>
            </a:extLst>
          </p:cNvPr>
          <p:cNvSpPr/>
          <p:nvPr/>
        </p:nvSpPr>
        <p:spPr>
          <a:xfrm>
            <a:off x="1215763" y="2175195"/>
            <a:ext cx="4845173" cy="4580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430–427  Typhoid Fever (429, Death of Pericles)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5140B0-5AD1-6D3A-680A-E7E0FA8228FB}"/>
              </a:ext>
            </a:extLst>
          </p:cNvPr>
          <p:cNvSpPr/>
          <p:nvPr/>
        </p:nvSpPr>
        <p:spPr>
          <a:xfrm>
            <a:off x="1215764" y="2766239"/>
            <a:ext cx="5563702" cy="458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421      </a:t>
            </a:r>
            <a:r>
              <a:rPr lang="en-US" altLang="zh-CN" b="1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Peace of Nicias </a:t>
            </a: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(431–421 the </a:t>
            </a:r>
            <a:r>
              <a:rPr lang="en-US" altLang="zh-CN" kern="100" dirty="0" err="1">
                <a:latin typeface="Times New Roman" panose="02020603050405020304" pitchFamily="18" charset="0"/>
                <a:ea typeface="DengXian" panose="02010600030101010101" pitchFamily="2" charset="-122"/>
              </a:rPr>
              <a:t>Archidamian</a:t>
            </a: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 War)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DAB806-71EA-FC34-A73F-3CFA0DEA56C6}"/>
              </a:ext>
            </a:extLst>
          </p:cNvPr>
          <p:cNvSpPr/>
          <p:nvPr/>
        </p:nvSpPr>
        <p:spPr>
          <a:xfrm>
            <a:off x="1109484" y="3357283"/>
            <a:ext cx="4307589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  415–413  </a:t>
            </a:r>
            <a:r>
              <a:rPr lang="en-US" altLang="zh-CN" b="1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Athenian Expedition to Sicily</a:t>
            </a:r>
            <a:endParaRPr lang="zh-CN" altLang="zh-CN" b="1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F1603D-4113-B044-4A5E-3C469FA1180F}"/>
              </a:ext>
            </a:extLst>
          </p:cNvPr>
          <p:cNvSpPr/>
          <p:nvPr/>
        </p:nvSpPr>
        <p:spPr>
          <a:xfrm>
            <a:off x="1067774" y="3948328"/>
            <a:ext cx="4275529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   413      </a:t>
            </a:r>
            <a:r>
              <a:rPr lang="en-US" altLang="zh-CN" b="1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Spartan fortification of </a:t>
            </a:r>
            <a:r>
              <a:rPr lang="en-US" altLang="zh-CN" b="1" kern="100" dirty="0" err="1">
                <a:latin typeface="Times New Roman" panose="02020603050405020304" pitchFamily="18" charset="0"/>
                <a:ea typeface="DengXian" panose="02010600030101010101" pitchFamily="2" charset="-122"/>
              </a:rPr>
              <a:t>Decelea</a:t>
            </a:r>
            <a:endParaRPr lang="zh-CN" altLang="zh-CN" b="1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2D39E2-DD14-AE28-CADA-35B8F7C14CEF}"/>
              </a:ext>
            </a:extLst>
          </p:cNvPr>
          <p:cNvSpPr/>
          <p:nvPr/>
        </p:nvSpPr>
        <p:spPr>
          <a:xfrm>
            <a:off x="1256928" y="4539372"/>
            <a:ext cx="3721916" cy="4580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411      Regime of the Four Hundred 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519542-7174-E0C7-F279-BF094BEF0B2E}"/>
              </a:ext>
            </a:extLst>
          </p:cNvPr>
          <p:cNvSpPr/>
          <p:nvPr/>
        </p:nvSpPr>
        <p:spPr>
          <a:xfrm>
            <a:off x="1215763" y="5130416"/>
            <a:ext cx="3644620" cy="4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 405      </a:t>
            </a:r>
            <a:r>
              <a:rPr lang="en-US" altLang="zh-CN" b="1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The Battle of Aegospotami </a:t>
            </a:r>
            <a:endParaRPr lang="zh-CN" altLang="zh-CN" b="1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4FBD75-A975-A260-046B-EF1A6F044DE1}"/>
              </a:ext>
            </a:extLst>
          </p:cNvPr>
          <p:cNvSpPr/>
          <p:nvPr/>
        </p:nvSpPr>
        <p:spPr>
          <a:xfrm>
            <a:off x="1295399" y="5721462"/>
            <a:ext cx="4121673" cy="4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404      </a:t>
            </a:r>
            <a:r>
              <a:rPr lang="en-US" altLang="zh-CN" b="1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Siege and Surrender of Athens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C718DB-1713-B25C-A26B-1BE29C0C73FB}"/>
              </a:ext>
            </a:extLst>
          </p:cNvPr>
          <p:cNvSpPr/>
          <p:nvPr/>
        </p:nvSpPr>
        <p:spPr>
          <a:xfrm>
            <a:off x="6593672" y="2175195"/>
            <a:ext cx="4112408" cy="4580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427 Gorgias of </a:t>
            </a:r>
            <a:r>
              <a:rPr lang="en-US" altLang="zh-CN" kern="100" dirty="0" err="1">
                <a:latin typeface="Times New Roman" panose="02020603050405020304" pitchFamily="18" charset="0"/>
                <a:ea typeface="DengXian" panose="02010600030101010101" pitchFamily="2" charset="-122"/>
              </a:rPr>
              <a:t>Leontini’s</a:t>
            </a: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 Visit to Athens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160CE1-CA14-CF19-1556-D2B8A751154C}"/>
              </a:ext>
            </a:extLst>
          </p:cNvPr>
          <p:cNvSpPr/>
          <p:nvPr/>
        </p:nvSpPr>
        <p:spPr>
          <a:xfrm>
            <a:off x="6603995" y="2764256"/>
            <a:ext cx="4463807" cy="458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423 Aristophanes’ </a:t>
            </a:r>
            <a:r>
              <a:rPr lang="en-US" altLang="zh-CN" i="1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Clouds</a:t>
            </a: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 I, City Dionysia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29FF662-9B32-2774-36A6-F3ED469B3098}"/>
              </a:ext>
            </a:extLst>
          </p:cNvPr>
          <p:cNvSpPr/>
          <p:nvPr/>
        </p:nvSpPr>
        <p:spPr>
          <a:xfrm>
            <a:off x="6603995" y="3353317"/>
            <a:ext cx="3816108" cy="458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c. 420s   Herodotus’ </a:t>
            </a:r>
            <a:r>
              <a:rPr lang="en-US" altLang="zh-CN" i="1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Histories</a:t>
            </a:r>
            <a:endParaRPr lang="zh-CN" altLang="zh-CN" i="1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6DD4E28-EE1B-910C-E070-5C403ACD9AC4}"/>
              </a:ext>
            </a:extLst>
          </p:cNvPr>
          <p:cNvSpPr/>
          <p:nvPr/>
        </p:nvSpPr>
        <p:spPr>
          <a:xfrm>
            <a:off x="6603995" y="3942378"/>
            <a:ext cx="3120919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411    Aristophanes’ </a:t>
            </a:r>
            <a:r>
              <a:rPr lang="en-US" altLang="zh-CN" i="1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Lysistrata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120F2C4-00ED-B601-0236-8CDA63ACA9F2}"/>
              </a:ext>
            </a:extLst>
          </p:cNvPr>
          <p:cNvSpPr/>
          <p:nvPr/>
        </p:nvSpPr>
        <p:spPr>
          <a:xfrm>
            <a:off x="6603995" y="4531439"/>
            <a:ext cx="2982420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409    Sophocles’ </a:t>
            </a:r>
            <a:r>
              <a:rPr lang="en-US" altLang="zh-CN" i="1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Philoctetes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5900419-F1D9-354F-4F59-74919442B7A9}"/>
              </a:ext>
            </a:extLst>
          </p:cNvPr>
          <p:cNvSpPr/>
          <p:nvPr/>
        </p:nvSpPr>
        <p:spPr>
          <a:xfrm>
            <a:off x="6593672" y="5120500"/>
            <a:ext cx="4794763" cy="458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406/5  Deaths of Euripides and Sophocles </a:t>
            </a:r>
            <a:endParaRPr lang="zh-CN" altLang="zh-CN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F63DAE7-F839-328D-97C1-BC1852E1C182}"/>
              </a:ext>
            </a:extLst>
          </p:cNvPr>
          <p:cNvSpPr/>
          <p:nvPr/>
        </p:nvSpPr>
        <p:spPr>
          <a:xfrm>
            <a:off x="6593672" y="5709496"/>
            <a:ext cx="3329471" cy="458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27000" algn="just">
              <a:lnSpc>
                <a:spcPct val="15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405      Aristophanes’ </a:t>
            </a:r>
            <a:r>
              <a:rPr lang="en-US" altLang="zh-CN" i="1" kern="100" dirty="0">
                <a:latin typeface="Times New Roman" panose="02020603050405020304" pitchFamily="18" charset="0"/>
                <a:ea typeface="DengXian" panose="02010600030101010101" pitchFamily="2" charset="-122"/>
              </a:rPr>
              <a:t>Frogs</a:t>
            </a:r>
            <a:endParaRPr lang="zh-CN" altLang="zh-CN" i="1" kern="100" dirty="0"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9403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1E3F0B0-B366-7EAA-8B39-FA439FB2E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208" y="1580016"/>
            <a:ext cx="8418098" cy="5200982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44573DCA-3EEA-880D-8724-4BA89B4B1B7E}"/>
              </a:ext>
            </a:extLst>
          </p:cNvPr>
          <p:cNvSpPr txBox="1">
            <a:spLocks/>
          </p:cNvSpPr>
          <p:nvPr/>
        </p:nvSpPr>
        <p:spPr>
          <a:xfrm>
            <a:off x="1295400" y="691749"/>
            <a:ext cx="7733097" cy="6365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altLang="zh-C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Atheno</a:t>
            </a:r>
            <a:r>
              <a:rPr lang="en-GB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-Peloponnesian Wars</a:t>
            </a:r>
            <a:endParaRPr lang="zh-CN" altLang="zh-C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695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2F51B-9692-A438-5991-02C691265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1" y="2948940"/>
            <a:ext cx="3575784" cy="747161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Magna Graecia</a:t>
            </a:r>
            <a:endParaRPr lang="en-US" sz="4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E9D059-033E-750F-5858-1B596AE77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167" y="-1"/>
            <a:ext cx="728283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192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47B2B09-28EF-C3AE-6699-49D9A3147287}"/>
              </a:ext>
            </a:extLst>
          </p:cNvPr>
          <p:cNvSpPr/>
          <p:nvPr/>
        </p:nvSpPr>
        <p:spPr>
          <a:xfrm>
            <a:off x="1368826" y="1287052"/>
            <a:ext cx="5263327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sz="3400" dirty="0">
                <a:solidFill>
                  <a:srgbClr val="445F51"/>
                </a:solidFill>
                <a:latin typeface="Times New Roman" panose="02020603050405020304" pitchFamily="18" charset="0"/>
                <a:ea typeface="Nirmala UI" panose="020B0502040204020203" pitchFamily="34" charset="0"/>
                <a:cs typeface="Times New Roman" panose="02020603050405020304" pitchFamily="18" charset="0"/>
              </a:rPr>
              <a:t>Date of Composition</a:t>
            </a:r>
            <a:endParaRPr lang="zh-CN" altLang="en-US" sz="3400" dirty="0">
              <a:solidFill>
                <a:srgbClr val="445F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E6DB73-FEBB-36FA-E3F3-F8B017B75EC6}"/>
              </a:ext>
            </a:extLst>
          </p:cNvPr>
          <p:cNvPicPr>
            <a:picLocks/>
          </p:cNvPicPr>
          <p:nvPr/>
        </p:nvPicPr>
        <p:blipFill>
          <a:blip r:embed="rId3"/>
          <a:srcRect r="7124" b="2554"/>
          <a:stretch>
            <a:fillRect/>
          </a:stretch>
        </p:blipFill>
        <p:spPr>
          <a:xfrm>
            <a:off x="1983604" y="2502570"/>
            <a:ext cx="2498357" cy="355406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F1DAF96-C957-8E3A-49F9-5B88ACD4D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603" y="2502570"/>
            <a:ext cx="2352793" cy="355406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5DCCDE4-CC96-ED47-F3B4-3D96FD59FA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8337" y="2855067"/>
            <a:ext cx="3686860" cy="27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44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71ABC-F4D8-2E49-CCBE-831B6A9CA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CD91B8C-D014-45F3-EAB3-2A14E1051DEB}"/>
              </a:ext>
            </a:extLst>
          </p:cNvPr>
          <p:cNvSpPr/>
          <p:nvPr/>
        </p:nvSpPr>
        <p:spPr>
          <a:xfrm>
            <a:off x="1382717" y="1308599"/>
            <a:ext cx="37432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sz="3400" dirty="0">
                <a:solidFill>
                  <a:srgbClr val="445F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Context</a:t>
            </a:r>
            <a:endParaRPr lang="zh-CN" altLang="en-US" sz="3400" dirty="0">
              <a:solidFill>
                <a:srgbClr val="445F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B1EFDDB-CE5C-7BD9-1AEF-3A03D2FF7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649" y="2402931"/>
            <a:ext cx="2580913" cy="381866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E42B8BA-4455-8DB9-B8A4-927C4D7921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25917" y="2402931"/>
            <a:ext cx="2445138" cy="381866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C1E6DCF-2D32-DD2B-8F91-4696A6E58E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3306" y="2402931"/>
            <a:ext cx="2475064" cy="381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40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EDFC86D-646A-4D93-2651-AC13CC8F099B}"/>
              </a:ext>
            </a:extLst>
          </p:cNvPr>
          <p:cNvPicPr>
            <a:picLocks/>
          </p:cNvPicPr>
          <p:nvPr/>
        </p:nvPicPr>
        <p:blipFill>
          <a:blip r:embed="rId2"/>
          <a:srcRect l="1129"/>
          <a:stretch>
            <a:fillRect/>
          </a:stretch>
        </p:blipFill>
        <p:spPr>
          <a:xfrm>
            <a:off x="-2" y="1856982"/>
            <a:ext cx="6250329" cy="314403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A926567-8207-9F64-ECAA-6957DC92B1EB}"/>
              </a:ext>
            </a:extLst>
          </p:cNvPr>
          <p:cNvPicPr>
            <a:picLocks/>
          </p:cNvPicPr>
          <p:nvPr/>
        </p:nvPicPr>
        <p:blipFill>
          <a:blip r:embed="rId3"/>
          <a:srcRect t="3117" b="6285"/>
          <a:stretch>
            <a:fillRect/>
          </a:stretch>
        </p:blipFill>
        <p:spPr>
          <a:xfrm>
            <a:off x="6250329" y="1342663"/>
            <a:ext cx="5941672" cy="439749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2B65D95-0BA4-4FB4-5439-2DD5C4A1D952}"/>
              </a:ext>
            </a:extLst>
          </p:cNvPr>
          <p:cNvSpPr txBox="1"/>
          <p:nvPr/>
        </p:nvSpPr>
        <p:spPr>
          <a:xfrm>
            <a:off x="852184" y="1230491"/>
            <a:ext cx="4545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u="sng" dirty="0">
                <a:solidFill>
                  <a:srgbClr val="2C4A77"/>
                </a:solidFill>
                <a:effectLst/>
                <a:latin typeface="Lucida Grande"/>
                <a:hlinkClick r:id="rId4" tooltip="https://histos.org/index.php/histos/index"/>
              </a:rPr>
              <a:t>https://histos.org/index.php/histos/index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F5A64A2-C9C1-28E7-2256-FDCFEBC62C3F}"/>
              </a:ext>
            </a:extLst>
          </p:cNvPr>
          <p:cNvSpPr txBox="1"/>
          <p:nvPr/>
        </p:nvSpPr>
        <p:spPr>
          <a:xfrm>
            <a:off x="5697638" y="5889463"/>
            <a:ext cx="7509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u="sng" dirty="0">
                <a:solidFill>
                  <a:srgbClr val="2C4A77"/>
                </a:solidFill>
                <a:effectLst/>
                <a:latin typeface="Lucida Grande"/>
                <a:hlinkClick r:id="rId5" tooltip="https://journals.ub.uni-heidelberg.de/index.php/syllogos/index"/>
              </a:rPr>
              <a:t>https://journals.ub.uni-heidelberg.de/index.php/syllogos/index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368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32139-4395-88DC-E6AB-F2D290584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0024B47-E83F-CAD8-14EC-0BB9EC736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10" y="4236569"/>
            <a:ext cx="2404308" cy="238918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8351F4F-B994-907A-0BC9-068C61721881}"/>
              </a:ext>
            </a:extLst>
          </p:cNvPr>
          <p:cNvPicPr>
            <a:picLocks/>
          </p:cNvPicPr>
          <p:nvPr/>
        </p:nvPicPr>
        <p:blipFill>
          <a:blip r:embed="rId4"/>
          <a:srcRect l="4762" r="4388" b="48243"/>
          <a:stretch>
            <a:fillRect/>
          </a:stretch>
        </p:blipFill>
        <p:spPr>
          <a:xfrm>
            <a:off x="56947" y="101411"/>
            <a:ext cx="6302943" cy="350951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6BF5D3D-82B7-D8A0-7240-08D70C49E4F1}"/>
              </a:ext>
            </a:extLst>
          </p:cNvPr>
          <p:cNvPicPr>
            <a:picLocks/>
          </p:cNvPicPr>
          <p:nvPr/>
        </p:nvPicPr>
        <p:blipFill>
          <a:blip r:embed="rId5"/>
          <a:srcRect l="3318" t="8204" r="2563"/>
          <a:stretch>
            <a:fillRect/>
          </a:stretch>
        </p:blipFill>
        <p:spPr>
          <a:xfrm>
            <a:off x="5832110" y="3429000"/>
            <a:ext cx="6302943" cy="334477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393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429000"/>
            <a:ext cx="12192000" cy="3429000"/>
            <a:chOff x="0" y="0"/>
            <a:chExt cx="4816593" cy="1354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354667"/>
            </a:xfrm>
            <a:custGeom>
              <a:avLst/>
              <a:gdLst/>
              <a:ahLst/>
              <a:cxnLst/>
              <a:rect l="l" t="t" r="r" b="b"/>
              <a:pathLst>
                <a:path w="4816592" h="1354667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gradFill rotWithShape="1">
              <a:gsLst>
                <a:gs pos="0">
                  <a:srgbClr val="EBE8DF">
                    <a:alpha val="100000"/>
                  </a:srgbClr>
                </a:gs>
                <a:gs pos="100000">
                  <a:srgbClr val="E7E3D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39276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2610928"/>
            <a:ext cx="12192000" cy="4247072"/>
          </a:xfrm>
          <a:custGeom>
            <a:avLst/>
            <a:gdLst/>
            <a:ahLst/>
            <a:cxnLst/>
            <a:rect l="l" t="t" r="r" b="b"/>
            <a:pathLst>
              <a:path w="18288000" h="6370608">
                <a:moveTo>
                  <a:pt x="0" y="0"/>
                </a:moveTo>
                <a:lnTo>
                  <a:pt x="18288000" y="0"/>
                </a:lnTo>
                <a:lnTo>
                  <a:pt x="18288000" y="6370608"/>
                </a:lnTo>
                <a:lnTo>
                  <a:pt x="0" y="637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-20990" t="-12695" r="-12368" b="-83984"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7072849" y="2234793"/>
            <a:ext cx="6031691" cy="4623207"/>
          </a:xfrm>
          <a:custGeom>
            <a:avLst/>
            <a:gdLst/>
            <a:ahLst/>
            <a:cxnLst/>
            <a:rect l="l" t="t" r="r" b="b"/>
            <a:pathLst>
              <a:path w="9047536" h="6934811">
                <a:moveTo>
                  <a:pt x="9047536" y="0"/>
                </a:moveTo>
                <a:lnTo>
                  <a:pt x="0" y="0"/>
                </a:lnTo>
                <a:lnTo>
                  <a:pt x="0" y="6934811"/>
                </a:lnTo>
                <a:lnTo>
                  <a:pt x="9047536" y="6934811"/>
                </a:lnTo>
                <a:lnTo>
                  <a:pt x="9047536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-46186" t="-12695" r="-147249" b="-83984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3429000"/>
            <a:chOff x="0" y="0"/>
            <a:chExt cx="4816593" cy="13546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1354667"/>
            </a:xfrm>
            <a:custGeom>
              <a:avLst/>
              <a:gdLst/>
              <a:ahLst/>
              <a:cxnLst/>
              <a:rect l="l" t="t" r="r" b="b"/>
              <a:pathLst>
                <a:path w="4816592" h="1354667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gradFill rotWithShape="1">
              <a:gsLst>
                <a:gs pos="0">
                  <a:srgbClr val="CBC1B0">
                    <a:alpha val="100000"/>
                  </a:srgbClr>
                </a:gs>
                <a:gs pos="100000">
                  <a:srgbClr val="C0B3A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139276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616840" y="0"/>
            <a:ext cx="15425679" cy="3429000"/>
            <a:chOff x="0" y="0"/>
            <a:chExt cx="30851359" cy="6858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283786" cy="6858000"/>
            </a:xfrm>
            <a:custGeom>
              <a:avLst/>
              <a:gdLst/>
              <a:ahLst/>
              <a:cxnLst/>
              <a:rect l="l" t="t" r="r" b="b"/>
              <a:pathLst>
                <a:path w="10283786" h="6858000">
                  <a:moveTo>
                    <a:pt x="0" y="0"/>
                  </a:moveTo>
                  <a:lnTo>
                    <a:pt x="10283786" y="0"/>
                  </a:lnTo>
                  <a:lnTo>
                    <a:pt x="10283786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4000"/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0283786" y="0"/>
              <a:ext cx="10283786" cy="6858000"/>
            </a:xfrm>
            <a:custGeom>
              <a:avLst/>
              <a:gdLst/>
              <a:ahLst/>
              <a:cxnLst/>
              <a:rect l="l" t="t" r="r" b="b"/>
              <a:pathLst>
                <a:path w="10283786" h="6858000">
                  <a:moveTo>
                    <a:pt x="0" y="0"/>
                  </a:moveTo>
                  <a:lnTo>
                    <a:pt x="10283787" y="0"/>
                  </a:lnTo>
                  <a:lnTo>
                    <a:pt x="1028378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4000"/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20567573" y="0"/>
              <a:ext cx="10283786" cy="6858000"/>
            </a:xfrm>
            <a:custGeom>
              <a:avLst/>
              <a:gdLst/>
              <a:ahLst/>
              <a:cxnLst/>
              <a:rect l="l" t="t" r="r" b="b"/>
              <a:pathLst>
                <a:path w="10283786" h="6858000">
                  <a:moveTo>
                    <a:pt x="0" y="0"/>
                  </a:moveTo>
                  <a:lnTo>
                    <a:pt x="10283786" y="0"/>
                  </a:lnTo>
                  <a:lnTo>
                    <a:pt x="10283786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4000"/>
              </a:blip>
              <a:stretch>
                <a:fillRect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 flipH="1">
            <a:off x="1" y="1"/>
            <a:ext cx="4305147" cy="4305147"/>
          </a:xfrm>
          <a:custGeom>
            <a:avLst/>
            <a:gdLst/>
            <a:ahLst/>
            <a:cxnLst/>
            <a:rect l="l" t="t" r="r" b="b"/>
            <a:pathLst>
              <a:path w="6457721" h="6457721">
                <a:moveTo>
                  <a:pt x="6457721" y="0"/>
                </a:moveTo>
                <a:lnTo>
                  <a:pt x="0" y="0"/>
                </a:lnTo>
                <a:lnTo>
                  <a:pt x="0" y="6457721"/>
                </a:lnTo>
                <a:lnTo>
                  <a:pt x="6457721" y="6457721"/>
                </a:lnTo>
                <a:lnTo>
                  <a:pt x="6457721" y="0"/>
                </a:lnTo>
                <a:close/>
              </a:path>
            </a:pathLst>
          </a:custGeom>
          <a:blipFill>
            <a:blip r:embed="rId4">
              <a:alphaModFix amt="54000"/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886853" y="1"/>
            <a:ext cx="4305147" cy="4305147"/>
          </a:xfrm>
          <a:custGeom>
            <a:avLst/>
            <a:gdLst/>
            <a:ahLst/>
            <a:cxnLst/>
            <a:rect l="l" t="t" r="r" b="b"/>
            <a:pathLst>
              <a:path w="6457721" h="6457721">
                <a:moveTo>
                  <a:pt x="0" y="0"/>
                </a:moveTo>
                <a:lnTo>
                  <a:pt x="6457721" y="0"/>
                </a:lnTo>
                <a:lnTo>
                  <a:pt x="6457721" y="6457721"/>
                </a:lnTo>
                <a:lnTo>
                  <a:pt x="0" y="64577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4000"/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885024" y="685800"/>
            <a:ext cx="10421953" cy="5486400"/>
            <a:chOff x="0" y="0"/>
            <a:chExt cx="4117315" cy="216746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117315" cy="2167467"/>
            </a:xfrm>
            <a:custGeom>
              <a:avLst/>
              <a:gdLst/>
              <a:ahLst/>
              <a:cxnLst/>
              <a:rect l="l" t="t" r="r" b="b"/>
              <a:pathLst>
                <a:path w="4117315" h="2167467">
                  <a:moveTo>
                    <a:pt x="0" y="0"/>
                  </a:moveTo>
                  <a:lnTo>
                    <a:pt x="4117315" y="0"/>
                  </a:lnTo>
                  <a:lnTo>
                    <a:pt x="4117315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1">
              <a:gsLst>
                <a:gs pos="0">
                  <a:srgbClr val="F9F8F6">
                    <a:alpha val="100000"/>
                  </a:srgbClr>
                </a:gs>
                <a:gs pos="100000">
                  <a:srgbClr val="F5F2E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117315" cy="220556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227094" y="3923581"/>
            <a:ext cx="9737814" cy="0"/>
          </a:xfrm>
          <a:prstGeom prst="line">
            <a:avLst/>
          </a:prstGeom>
          <a:ln w="38100" cap="flat">
            <a:solidFill>
              <a:srgbClr val="D3CCBF">
                <a:alpha val="42745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2960868" y="3923581"/>
            <a:ext cx="6384946" cy="0"/>
          </a:xfrm>
          <a:prstGeom prst="line">
            <a:avLst/>
          </a:prstGeom>
          <a:ln w="142875" cap="flat">
            <a:solidFill>
              <a:srgbClr val="8E857C">
                <a:alpha val="45882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 rot="5400000">
            <a:off x="6021978" y="-4451155"/>
            <a:ext cx="148044" cy="10421953"/>
            <a:chOff x="0" y="0"/>
            <a:chExt cx="58486" cy="411731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8486" cy="4117315"/>
            </a:xfrm>
            <a:custGeom>
              <a:avLst/>
              <a:gdLst/>
              <a:ahLst/>
              <a:cxnLst/>
              <a:rect l="l" t="t" r="r" b="b"/>
              <a:pathLst>
                <a:path w="58486" h="4117315">
                  <a:moveTo>
                    <a:pt x="0" y="0"/>
                  </a:moveTo>
                  <a:lnTo>
                    <a:pt x="58486" y="0"/>
                  </a:lnTo>
                  <a:lnTo>
                    <a:pt x="58486" y="4117315"/>
                  </a:lnTo>
                  <a:lnTo>
                    <a:pt x="0" y="4117315"/>
                  </a:lnTo>
                  <a:close/>
                </a:path>
              </a:pathLst>
            </a:custGeom>
            <a:solidFill>
              <a:srgbClr val="5C4F4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58486" cy="41554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72074" y="5654870"/>
            <a:ext cx="10247037" cy="255020"/>
            <a:chOff x="0" y="0"/>
            <a:chExt cx="20494075" cy="5100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10040" cy="508407"/>
            </a:xfrm>
            <a:custGeom>
              <a:avLst/>
              <a:gdLst/>
              <a:ahLst/>
              <a:cxnLst/>
              <a:rect l="l" t="t" r="r" b="b"/>
              <a:pathLst>
                <a:path w="510040" h="508407">
                  <a:moveTo>
                    <a:pt x="0" y="0"/>
                  </a:moveTo>
                  <a:lnTo>
                    <a:pt x="510040" y="0"/>
                  </a:lnTo>
                  <a:lnTo>
                    <a:pt x="510040" y="508407"/>
                  </a:lnTo>
                  <a:lnTo>
                    <a:pt x="0" y="508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 rot="-5400000">
              <a:off x="19984851" y="816"/>
              <a:ext cx="510040" cy="508407"/>
            </a:xfrm>
            <a:custGeom>
              <a:avLst/>
              <a:gdLst/>
              <a:ahLst/>
              <a:cxnLst/>
              <a:rect l="l" t="t" r="r" b="b"/>
              <a:pathLst>
                <a:path w="510040" h="508407">
                  <a:moveTo>
                    <a:pt x="0" y="0"/>
                  </a:moveTo>
                  <a:lnTo>
                    <a:pt x="510040" y="0"/>
                  </a:lnTo>
                  <a:lnTo>
                    <a:pt x="510040" y="508408"/>
                  </a:lnTo>
                  <a:lnTo>
                    <a:pt x="0" y="50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2934970" y="4514850"/>
            <a:ext cx="6421120" cy="562187"/>
            <a:chOff x="0" y="0"/>
            <a:chExt cx="505113" cy="2221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05112" cy="222119"/>
            </a:xfrm>
            <a:custGeom>
              <a:avLst/>
              <a:gdLst/>
              <a:ahLst/>
              <a:cxnLst/>
              <a:rect l="l" t="t" r="r" b="b"/>
              <a:pathLst>
                <a:path w="505112" h="222119">
                  <a:moveTo>
                    <a:pt x="0" y="0"/>
                  </a:moveTo>
                  <a:lnTo>
                    <a:pt x="505112" y="0"/>
                  </a:lnTo>
                  <a:lnTo>
                    <a:pt x="505112" y="222119"/>
                  </a:lnTo>
                  <a:lnTo>
                    <a:pt x="0" y="222119"/>
                  </a:lnTo>
                  <a:close/>
                </a:path>
              </a:pathLst>
            </a:custGeom>
            <a:solidFill>
              <a:srgbClr val="AF9176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505113" cy="26021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36" name="Freeform 36"/>
          <p:cNvSpPr/>
          <p:nvPr/>
        </p:nvSpPr>
        <p:spPr>
          <a:xfrm>
            <a:off x="9618569" y="1714500"/>
            <a:ext cx="1346339" cy="673169"/>
          </a:xfrm>
          <a:custGeom>
            <a:avLst/>
            <a:gdLst/>
            <a:ahLst/>
            <a:cxnLst/>
            <a:rect l="l" t="t" r="r" b="b"/>
            <a:pathLst>
              <a:path w="2019509" h="1009754">
                <a:moveTo>
                  <a:pt x="0" y="0"/>
                </a:moveTo>
                <a:lnTo>
                  <a:pt x="2019508" y="0"/>
                </a:lnTo>
                <a:lnTo>
                  <a:pt x="2019508" y="1009754"/>
                </a:lnTo>
                <a:lnTo>
                  <a:pt x="0" y="10097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1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2392623" y="2514698"/>
            <a:ext cx="7725101" cy="616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7"/>
              </a:lnSpc>
            </a:pPr>
            <a:r>
              <a:rPr lang="en-US" sz="4000" b="1" spc="21">
                <a:solidFill>
                  <a:srgbClr val="413D38"/>
                </a:solidFill>
                <a:latin typeface="Mongolian Baiti" panose="03000500000000000000" charset="0"/>
                <a:ea typeface="思源宋体 Bold" panose="02020700000000000000" charset="-122"/>
                <a:cs typeface="Mongolian Baiti" panose="03000500000000000000" charset="0"/>
                <a:sym typeface="思源宋体 Bold" panose="02020700000000000000" charset="-122"/>
              </a:rPr>
              <a:t>Thanks for your attention</a:t>
            </a:r>
            <a:r>
              <a:rPr lang="zh-CN" altLang="en-US" sz="4000" b="1" spc="21">
                <a:solidFill>
                  <a:srgbClr val="413D38"/>
                </a:solidFill>
                <a:latin typeface="Mongolian Baiti" panose="03000500000000000000" charset="0"/>
                <a:ea typeface="思源宋体 Bold" panose="02020700000000000000" charset="-122"/>
                <a:cs typeface="Mongolian Baiti" panose="03000500000000000000" charset="0"/>
                <a:sym typeface="思源宋体 Bold" panose="02020700000000000000" charset="-122"/>
              </a:rPr>
              <a:t>！</a:t>
            </a:r>
          </a:p>
        </p:txBody>
      </p:sp>
      <p:sp>
        <p:nvSpPr>
          <p:cNvPr id="38" name="Freeform 38"/>
          <p:cNvSpPr/>
          <p:nvPr/>
        </p:nvSpPr>
        <p:spPr>
          <a:xfrm flipH="1">
            <a:off x="1356675" y="1714500"/>
            <a:ext cx="1346339" cy="673169"/>
          </a:xfrm>
          <a:custGeom>
            <a:avLst/>
            <a:gdLst/>
            <a:ahLst/>
            <a:cxnLst/>
            <a:rect l="l" t="t" r="r" b="b"/>
            <a:pathLst>
              <a:path w="2019509" h="1009754">
                <a:moveTo>
                  <a:pt x="2019509" y="0"/>
                </a:moveTo>
                <a:lnTo>
                  <a:pt x="0" y="0"/>
                </a:lnTo>
                <a:lnTo>
                  <a:pt x="0" y="1009754"/>
                </a:lnTo>
                <a:lnTo>
                  <a:pt x="2019509" y="1009754"/>
                </a:lnTo>
                <a:lnTo>
                  <a:pt x="2019509" y="0"/>
                </a:lnTo>
                <a:close/>
              </a:path>
            </a:pathLst>
          </a:custGeom>
          <a:blipFill>
            <a:blip r:embed="rId7">
              <a:alphaModFix amt="51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 flipH="1">
            <a:off x="1371689" y="4653486"/>
            <a:ext cx="940549" cy="381350"/>
          </a:xfrm>
          <a:custGeom>
            <a:avLst/>
            <a:gdLst/>
            <a:ahLst/>
            <a:cxnLst/>
            <a:rect l="l" t="t" r="r" b="b"/>
            <a:pathLst>
              <a:path w="1410823" h="572025">
                <a:moveTo>
                  <a:pt x="1410823" y="0"/>
                </a:moveTo>
                <a:lnTo>
                  <a:pt x="0" y="0"/>
                </a:lnTo>
                <a:lnTo>
                  <a:pt x="0" y="572024"/>
                </a:lnTo>
                <a:lnTo>
                  <a:pt x="1410823" y="572024"/>
                </a:lnTo>
                <a:lnTo>
                  <a:pt x="1410823" y="0"/>
                </a:lnTo>
                <a:close/>
              </a:path>
            </a:pathLst>
          </a:custGeom>
          <a:blipFill>
            <a:blip r:embed="rId9">
              <a:alphaModFix amt="38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0023664" y="4648406"/>
            <a:ext cx="940549" cy="381350"/>
          </a:xfrm>
          <a:custGeom>
            <a:avLst/>
            <a:gdLst/>
            <a:ahLst/>
            <a:cxnLst/>
            <a:rect l="l" t="t" r="r" b="b"/>
            <a:pathLst>
              <a:path w="1410823" h="572025">
                <a:moveTo>
                  <a:pt x="0" y="0"/>
                </a:moveTo>
                <a:lnTo>
                  <a:pt x="1410823" y="0"/>
                </a:lnTo>
                <a:lnTo>
                  <a:pt x="1410823" y="572024"/>
                </a:lnTo>
                <a:lnTo>
                  <a:pt x="0" y="5720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8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41" name="Group 41"/>
          <p:cNvGrpSpPr/>
          <p:nvPr/>
        </p:nvGrpSpPr>
        <p:grpSpPr>
          <a:xfrm rot="5400000">
            <a:off x="6021978" y="887202"/>
            <a:ext cx="148044" cy="10421953"/>
            <a:chOff x="0" y="0"/>
            <a:chExt cx="58486" cy="411731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8486" cy="4117315"/>
            </a:xfrm>
            <a:custGeom>
              <a:avLst/>
              <a:gdLst/>
              <a:ahLst/>
              <a:cxnLst/>
              <a:rect l="l" t="t" r="r" b="b"/>
              <a:pathLst>
                <a:path w="58486" h="4117315">
                  <a:moveTo>
                    <a:pt x="0" y="0"/>
                  </a:moveTo>
                  <a:lnTo>
                    <a:pt x="58486" y="0"/>
                  </a:lnTo>
                  <a:lnTo>
                    <a:pt x="58486" y="4117315"/>
                  </a:lnTo>
                  <a:lnTo>
                    <a:pt x="0" y="4117315"/>
                  </a:lnTo>
                  <a:close/>
                </a:path>
              </a:pathLst>
            </a:custGeom>
            <a:solidFill>
              <a:srgbClr val="5C4F49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58486" cy="41554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44" name="Group 44"/>
          <p:cNvGrpSpPr/>
          <p:nvPr/>
        </p:nvGrpSpPr>
        <p:grpSpPr>
          <a:xfrm rot="-10800000">
            <a:off x="972482" y="894893"/>
            <a:ext cx="10247037" cy="255020"/>
            <a:chOff x="0" y="0"/>
            <a:chExt cx="20494075" cy="5100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10040" cy="508407"/>
            </a:xfrm>
            <a:custGeom>
              <a:avLst/>
              <a:gdLst/>
              <a:ahLst/>
              <a:cxnLst/>
              <a:rect l="l" t="t" r="r" b="b"/>
              <a:pathLst>
                <a:path w="510040" h="508407">
                  <a:moveTo>
                    <a:pt x="0" y="0"/>
                  </a:moveTo>
                  <a:lnTo>
                    <a:pt x="510040" y="0"/>
                  </a:lnTo>
                  <a:lnTo>
                    <a:pt x="510040" y="508407"/>
                  </a:lnTo>
                  <a:lnTo>
                    <a:pt x="0" y="508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6" name="Freeform 46"/>
            <p:cNvSpPr/>
            <p:nvPr/>
          </p:nvSpPr>
          <p:spPr>
            <a:xfrm rot="-5400000">
              <a:off x="19984851" y="816"/>
              <a:ext cx="510040" cy="508407"/>
            </a:xfrm>
            <a:custGeom>
              <a:avLst/>
              <a:gdLst/>
              <a:ahLst/>
              <a:cxnLst/>
              <a:rect l="l" t="t" r="r" b="b"/>
              <a:pathLst>
                <a:path w="510040" h="508407">
                  <a:moveTo>
                    <a:pt x="0" y="0"/>
                  </a:moveTo>
                  <a:lnTo>
                    <a:pt x="510040" y="0"/>
                  </a:lnTo>
                  <a:lnTo>
                    <a:pt x="510040" y="508408"/>
                  </a:lnTo>
                  <a:lnTo>
                    <a:pt x="0" y="50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1" name="TextBox 34"/>
          <p:cNvSpPr txBox="1"/>
          <p:nvPr/>
        </p:nvSpPr>
        <p:spPr>
          <a:xfrm>
            <a:off x="3810000" y="4549987"/>
            <a:ext cx="4550833" cy="403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87"/>
              </a:lnSpc>
            </a:pPr>
            <a:r>
              <a:rPr lang="en-US" altLang="zh-CN" sz="2420" b="1">
                <a:solidFill>
                  <a:srgbClr val="F1EEE6"/>
                </a:solidFill>
                <a:latin typeface="Mongolian Baiti" panose="03000500000000000000" charset="0"/>
                <a:ea typeface="字由点字小隶书" panose="00020600040101010101" charset="-122"/>
                <a:cs typeface="Mongolian Baiti" panose="03000500000000000000" charset="0"/>
                <a:sym typeface="字由点字小隶书" panose="00020600040101010101" charset="-122"/>
              </a:rPr>
              <a:t>Contact: ruobingxian@fudan.edu.cn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剪切">
  <a:themeElements>
    <a:clrScheme name="绿色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剪切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剪切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{CDC5576E-B590-9B49-A2C8-F42F87438DC2}tf10001072</Template>
  <TotalTime>24224</TotalTime>
  <Words>463</Words>
  <Application>Microsoft Macintosh PowerPoint</Application>
  <PresentationFormat>Widescreen</PresentationFormat>
  <Paragraphs>76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等线</vt:lpstr>
      <vt:lpstr>Franklin Gothic Book</vt:lpstr>
      <vt:lpstr>Lucida Grande</vt:lpstr>
      <vt:lpstr>Mongolian Baiti</vt:lpstr>
      <vt:lpstr>Times New Roman</vt:lpstr>
      <vt:lpstr>剪切</vt:lpstr>
      <vt:lpstr>PowerPoint Presentation</vt:lpstr>
      <vt:lpstr>PowerPoint Presentation</vt:lpstr>
      <vt:lpstr>Semester Survey</vt:lpstr>
      <vt:lpstr>Semester Survey</vt:lpstr>
      <vt:lpstr>The Ancient Greek World from 510 to 446 BC    </vt:lpstr>
      <vt:lpstr>Graeco-Persian Wars</vt:lpstr>
      <vt:lpstr>PowerPoint Presentation</vt:lpstr>
      <vt:lpstr>PowerPoint Presentation</vt:lpstr>
      <vt:lpstr>PowerPoint Presentation</vt:lpstr>
      <vt:lpstr>Magna Graecia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潘 佳妮</dc:creator>
  <cp:lastModifiedBy>Microsoft Office User</cp:lastModifiedBy>
  <cp:revision>87</cp:revision>
  <dcterms:created xsi:type="dcterms:W3CDTF">2022-07-14T10:32:20Z</dcterms:created>
  <dcterms:modified xsi:type="dcterms:W3CDTF">2026-03-03T04:08:20Z</dcterms:modified>
</cp:coreProperties>
</file>